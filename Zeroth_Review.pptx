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Masters/slideMaster6.xml" ContentType="application/vnd.openxmlformats-officedocument.presentationml.slideMaster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Masters/slideMaster8.xml" ContentType="application/vnd.openxmlformats-officedocument.presentationml.slideMaster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Masters/slideMaster9.xml" ContentType="application/vnd.openxmlformats-officedocument.presentationml.slideMaster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Masters/slideMaster10.xml" ContentType="application/vnd.openxmlformats-officedocument.presentationml.slideMaster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Masters/slideMaster1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Masters/slideMaster12.xml" ContentType="application/vnd.openxmlformats-officedocument.presentationml.slideMaster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Masters/slideMaster13.xml" ContentType="application/vnd.openxmlformats-officedocument.presentationml.slideMaster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Masters/slideMaster14.xml" ContentType="application/vnd.openxmlformats-officedocument.presentationml.slideMaster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Masters/slideMaster15.xml" ContentType="application/vnd.openxmlformats-officedocument.presentationml.slideMaster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Masters/slideMaster16.xml" ContentType="application/vnd.openxmlformats-officedocument.presentationml.slideMaster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Masters/slideMaster17.xml" ContentType="application/vnd.openxmlformats-officedocument.presentationml.slideMaster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notesMasters/notesMaster1.xml" ContentType="application/vnd.openxmlformats-officedocument.presentationml.notesMaster+xml"/>
  <Override PartName="/ppt/theme/theme18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trictFirstAndLastChars="0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2" r:id="rId15"/>
    <p:sldMasterId id="2147483663" r:id="rId16"/>
    <p:sldMasterId id="2147483664" r:id="rId17"/>
  </p:sldMasterIdLst>
  <p:notesMasterIdLst>
    <p:notesMasterId r:id="rId18"/>
  </p:notesMasterIdLst>
  <p:sldIdLst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8" r:id="rId29"/>
    <p:sldId id="269" r:id="rId30"/>
    <p:sldId id="270" r:id="rId31"/>
    <p:sldId id="271" r:id="rId32"/>
    <p:sldId id="272" r:id="rId33"/>
    <p:sldId id="273" r:id="rId34"/>
    <p:sldId id="274" r:id="rId35"/>
  </p:sldIdLst>
  <p:sldSz type="screen4x3" cy="6858000" cx="91440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B881FAD-07A5-42EF-9D34-E71FABE4D0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18" y="-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tableStyles" Target="tableStyles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53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270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271" name="Google Shape;5;n"/>
          <p:cNvSpPr>
            <a:spLocks noChangeAspect="1" noRot="1" noGrp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9272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/>
            </a:lvl1pPr>
            <a:lvl2pPr algn="l" indent="-228600" lvl="1" marL="914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/>
            </a:lvl2pPr>
            <a:lvl3pPr algn="l" indent="-228600" lvl="2" marL="1371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/>
            </a:lvl3pPr>
            <a:lvl4pPr algn="l" indent="-228600" lvl="3" marL="1828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/>
            </a:lvl4pPr>
            <a:lvl5pPr algn="l" indent="-228600" lvl="4" marL="22860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/>
            </a:lvl5pPr>
            <a:lvl6pPr algn="l" indent="-228600" lvl="5" marL="2743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/>
            </a:lvl6pPr>
            <a:lvl7pPr algn="l" indent="-228600" lvl="6" marL="3200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/>
            </a:lvl7pPr>
            <a:lvl8pPr algn="l" indent="-228600" lvl="7" marL="3657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/>
            </a:lvl8pPr>
            <a:lvl9pPr algn="l" indent="-228600" lvl="8" marL="4114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/>
            </a:lvl9pPr>
          </a:lstStyle>
          <a:p/>
        </p:txBody>
      </p:sp>
      <p:sp>
        <p:nvSpPr>
          <p:cNvPr id="104927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274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cap="none" sz="1200" i="0" lang="en-US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683;p1:notes"/>
          <p:cNvSpPr txBox="1"/>
          <p:nvPr/>
        </p:nvSpPr>
        <p:spPr>
          <a:xfrm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sz="1200" i="0" lang="en-US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</a:p>
        </p:txBody>
      </p:sp>
      <p:sp>
        <p:nvSpPr>
          <p:cNvPr id="1048616" name="Google Shape;684;p1:notes"/>
          <p:cNvSpPr txBox="1"/>
          <p:nvPr/>
        </p:nvSpPr>
        <p:spPr>
          <a:xfrm>
            <a:off x="0" y="8685212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sz="1200" i="0" lang="en-US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Dept., SET-Jain University</a:t>
            </a:r>
          </a:p>
        </p:txBody>
      </p:sp>
      <p:sp>
        <p:nvSpPr>
          <p:cNvPr id="1048617" name="Google Shape;685;p1:notes"/>
          <p:cNvSpPr txBox="1"/>
          <p:nvPr/>
        </p:nvSpPr>
        <p:spPr>
          <a:xfrm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sz="1200" i="0" lang="en-US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</a:p>
        </p:txBody>
      </p:sp>
      <p:sp>
        <p:nvSpPr>
          <p:cNvPr id="1048618" name="Google Shape;686;p1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8619" name="Google Shape;6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6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2" name="Google Shape;699;p2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Google Shape;7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0" name="Google Shape;708;p3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Google Shape;7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9" name="Google Shape;717;p4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Google Shape;7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9" name="Google Shape;726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Google Shape;7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5" name="Google Shape;735;p6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Google Shape;7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14" name="Google Shape;744;p7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Google Shape;7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25" name="Google Shape;783;p11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32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Google Shape;42;p2"/>
          <p:cNvSpPr txBox="1"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06" name="Google Shape;43;p2"/>
          <p:cNvSpPr txBox="1"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algn="ctr" lvl="1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algn="ctr" lvl="2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algn="ctr" lvl="3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algn="ctr" lvl="4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algn="ctr" lvl="5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algn="ctr" lvl="6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algn="ctr" lvl="7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algn="ctr" lvl="8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607" name="Google Shape;44;p2"/>
          <p:cNvSpPr txBox="1">
            <a:spLocks noGrp="1"/>
          </p:cNvSpPr>
          <p:nvPr>
            <p:ph type="sldNum" idx="12"/>
          </p:nvPr>
        </p:nvSpPr>
        <p:spPr>
          <a:xfrm>
            <a:off x="423862" y="4529137"/>
            <a:ext cx="584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47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80;p4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2" name="Google Shape;81;p4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77762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>
              <a:spcBef>
                <a:spcPts val="1000"/>
              </a:spcBef>
              <a:spcAft>
                <a:spcPts val="0"/>
              </a:spcAft>
              <a:buSzPts val="1800"/>
              <a:buChar char="?"/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8653" name="Google Shape;82;p4"/>
          <p:cNvSpPr txBox="1">
            <a:spLocks noGrp="1"/>
          </p:cNvSpPr>
          <p:nvPr>
            <p:ph type="dt" idx="10"/>
          </p:nvPr>
        </p:nvSpPr>
        <p:spPr>
          <a:xfrm>
            <a:off x="1943100" y="6103937"/>
            <a:ext cx="9525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4" name="Google Shape;83;p4"/>
          <p:cNvSpPr txBox="1">
            <a:spLocks noGrp="1"/>
          </p:cNvSpPr>
          <p:nvPr>
            <p:ph type="ftr" idx="11"/>
          </p:nvPr>
        </p:nvSpPr>
        <p:spPr>
          <a:xfrm>
            <a:off x="2895600" y="6103937"/>
            <a:ext cx="4876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5" name="Google Shape;84;p4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ct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ct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ct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ct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ct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ct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ct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ct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9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9230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 smtClean="0"/>
              <a:t>单击此处编辑母版副标题样式</a:t>
            </a:r>
            <a:endParaRPr dirty="0" lang="en-US"/>
          </a:p>
        </p:txBody>
      </p:sp>
      <p:sp>
        <p:nvSpPr>
          <p:cNvPr id="10492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346817E-0B45-4720-AA23-C2196F400BBE}" type="datetimeFigureOut">
              <a:rPr altLang="en-US" lang="zh-CN" smtClean="0"/>
              <a:t>2015/2/2</a:t>
            </a:fld>
            <a:endParaRPr altLang="en-US" lang="zh-CN"/>
          </a:p>
        </p:txBody>
      </p:sp>
      <p:sp>
        <p:nvSpPr>
          <p:cNvPr id="10492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92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279700D-8087-46DD-9E4C-2E27B4C0B8C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12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4" name="Google Shape;154;p7"/>
          <p:cNvSpPr txBox="1"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000"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75" name="Google Shape;155;p7"/>
          <p:cNvSpPr txBox="1"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algn="l" indent="-228600" lvl="1" marL="914400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algn="l" indent="-228600" lvl="2" marL="1371600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algn="l" indent="-228600" lvl="3" marL="18288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algn="l" indent="-228600" lvl="4" marL="22860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algn="l" indent="-228600" lvl="5" marL="27432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algn="l" indent="-228600" lvl="6" marL="32004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algn="l" indent="-228600" lvl="7" marL="36576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algn="l" indent="-228600" lvl="8" marL="41148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976" name="Google Shape;156;p7"/>
          <p:cNvSpPr txBox="1">
            <a:spLocks noGrp="1"/>
          </p:cNvSpPr>
          <p:nvPr>
            <p:ph type="dt" idx="10"/>
          </p:nvPr>
        </p:nvSpPr>
        <p:spPr>
          <a:xfrm>
            <a:off x="1908175" y="6129337"/>
            <a:ext cx="766762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77" name="Google Shape;157;p7"/>
          <p:cNvSpPr txBox="1">
            <a:spLocks noGrp="1"/>
          </p:cNvSpPr>
          <p:nvPr>
            <p:ph type="ftr" idx="11"/>
          </p:nvPr>
        </p:nvSpPr>
        <p:spPr>
          <a:xfrm>
            <a:off x="2674937" y="6129337"/>
            <a:ext cx="51736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78" name="Google Shape;158;p7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82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Google Shape;195;p9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9" name="Google Shape;196;p9"/>
          <p:cNvSpPr txBox="1">
            <a:spLocks noGrp="1"/>
          </p:cNvSpPr>
          <p:nvPr>
            <p:ph type="body" idx="1"/>
          </p:nvPr>
        </p:nvSpPr>
        <p:spPr>
          <a:xfrm>
            <a:off x="1942416" y="2136706"/>
            <a:ext cx="3197531" cy="376739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1000"/>
              </a:spcBef>
              <a:spcAft>
                <a:spcPts val="0"/>
              </a:spcAft>
              <a:buSzPts val="1800"/>
              <a:buChar char="?"/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8760" name="Google Shape;197;p9"/>
          <p:cNvSpPr txBox="1">
            <a:spLocks noGrp="1"/>
          </p:cNvSpPr>
          <p:nvPr>
            <p:ph type="body" idx="2"/>
          </p:nvPr>
        </p:nvSpPr>
        <p:spPr>
          <a:xfrm>
            <a:off x="5337307" y="2136706"/>
            <a:ext cx="3197093" cy="376739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1000"/>
              </a:spcBef>
              <a:spcAft>
                <a:spcPts val="0"/>
              </a:spcAft>
              <a:buSzPts val="1800"/>
              <a:buChar char="?"/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8761" name="Google Shape;198;p9"/>
          <p:cNvSpPr txBox="1">
            <a:spLocks noGrp="1"/>
          </p:cNvSpPr>
          <p:nvPr>
            <p:ph type="dt" idx="10"/>
          </p:nvPr>
        </p:nvSpPr>
        <p:spPr>
          <a:xfrm>
            <a:off x="1828800" y="6111875"/>
            <a:ext cx="766762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2" name="Google Shape;199;p9"/>
          <p:cNvSpPr txBox="1">
            <a:spLocks noGrp="1"/>
          </p:cNvSpPr>
          <p:nvPr>
            <p:ph type="ftr" idx="11"/>
          </p:nvPr>
        </p:nvSpPr>
        <p:spPr>
          <a:xfrm>
            <a:off x="2595562" y="6135687"/>
            <a:ext cx="5064125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3" name="Google Shape;200;p9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07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Google Shape;237;p11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35" name="Google Shape;238;p11"/>
          <p:cNvSpPr txBox="1"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algn="l" indent="-228600" lvl="1" marL="914400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algn="l" indent="-228600" lvl="2" marL="1371600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algn="l" indent="-228600" lvl="3" marL="18288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algn="l" indent="-228600" lvl="4" marL="22860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algn="l" indent="-228600" lvl="5" marL="27432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algn="l" indent="-228600" lvl="6" marL="32004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algn="l" indent="-228600" lvl="7" marL="36576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algn="l" indent="-228600" lvl="8" marL="41148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48936" name="Google Shape;239;p11"/>
          <p:cNvSpPr txBox="1">
            <a:spLocks noGrp="1"/>
          </p:cNvSpPr>
          <p:nvPr>
            <p:ph type="body" idx="2"/>
          </p:nvPr>
        </p:nvSpPr>
        <p:spPr>
          <a:xfrm>
            <a:off x="1942415" y="2802888"/>
            <a:ext cx="3197532" cy="310570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1000"/>
              </a:spcBef>
              <a:spcAft>
                <a:spcPts val="0"/>
              </a:spcAft>
              <a:buSzPts val="1800"/>
              <a:buChar char="?"/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8937" name="Google Shape;240;p11"/>
          <p:cNvSpPr txBox="1">
            <a:spLocks noGrp="1"/>
          </p:cNvSpPr>
          <p:nvPr>
            <p:ph type="body" idx="3"/>
          </p:nvPr>
        </p:nvSpPr>
        <p:spPr>
          <a:xfrm>
            <a:off x="5656154" y="2223398"/>
            <a:ext cx="2873239" cy="5762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algn="l" indent="-228600" lvl="1" marL="914400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algn="l" indent="-228600" lvl="2" marL="1371600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algn="l" indent="-228600" lvl="3" marL="18288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algn="l" indent="-228600" lvl="4" marL="22860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algn="l" indent="-228600" lvl="5" marL="27432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algn="l" indent="-228600" lvl="6" marL="32004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algn="l" indent="-228600" lvl="7" marL="36576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algn="l" indent="-228600" lvl="8" marL="4114800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48938" name="Google Shape;241;p11"/>
          <p:cNvSpPr txBox="1">
            <a:spLocks noGrp="1"/>
          </p:cNvSpPr>
          <p:nvPr>
            <p:ph type="body" idx="4"/>
          </p:nvPr>
        </p:nvSpPr>
        <p:spPr>
          <a:xfrm>
            <a:off x="5333715" y="2799660"/>
            <a:ext cx="3195680" cy="310570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1000"/>
              </a:spcBef>
              <a:spcAft>
                <a:spcPts val="0"/>
              </a:spcAft>
              <a:buSzPts val="1800"/>
              <a:buChar char="?"/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8939" name="Google Shape;242;p11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  <p:sp>
        <p:nvSpPr>
          <p:cNvPr id="1048940" name="Google Shape;243;p11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41" name="Google Shape;244;p11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32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9" name="Google Shape;280;p13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120" name="Google Shape;281;p13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121" name="Google Shape;282;p13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122" name="Google Shape;283;p13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ct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ct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ct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ct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ct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ct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ct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ct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02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9" name="Google Shape;320;p15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0" name="Google Shape;321;p15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1" name="Google Shape;322;p15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37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5" name="Google Shape;359;p17"/>
          <p:cNvSpPr txBox="1"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2000"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156" name="Google Shape;360;p17"/>
          <p:cNvSpPr txBox="1">
            <a:spLocks noGrp="1"/>
          </p:cNvSpPr>
          <p:nvPr>
            <p:ph type="body" idx="1"/>
          </p:nvPr>
        </p:nvSpPr>
        <p:spPr>
          <a:xfrm>
            <a:off x="4743494" y="446089"/>
            <a:ext cx="3790906" cy="54149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1000"/>
              </a:spcBef>
              <a:spcAft>
                <a:spcPts val="0"/>
              </a:spcAft>
              <a:buSzPts val="1800"/>
              <a:buChar char="?"/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9157" name="Google Shape;361;p17"/>
          <p:cNvSpPr txBox="1">
            <a:spLocks noGrp="1"/>
          </p:cNvSpPr>
          <p:nvPr>
            <p:ph type="body" idx="2"/>
          </p:nvPr>
        </p:nvSpPr>
        <p:spPr>
          <a:xfrm>
            <a:off x="1942415" y="1598613"/>
            <a:ext cx="2629584" cy="426243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algn="l" indent="-228600" lvl="1" marL="914400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algn="l" indent="-228600" lvl="2" marL="1371600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algn="l" indent="-228600" lvl="3" marL="18288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algn="l" indent="-228600" lvl="4" marL="22860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algn="l" indent="-228600" lvl="5" marL="27432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algn="l" indent="-228600" lvl="6" marL="32004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algn="l" indent="-228600" lvl="7" marL="36576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algn="l" indent="-228600" lvl="8" marL="41148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9158" name="Google Shape;362;p17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  <p:sp>
        <p:nvSpPr>
          <p:cNvPr id="1049159" name="Google Shape;363;p17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160" name="Google Shape;364;p17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27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4" name="Google Shape;401;p19"/>
          <p:cNvSpPr txBox="1"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85" name="Google Shape;402;p19"/>
          <p:cNvSpPr>
            <a:spLocks noGrp="1"/>
          </p:cNvSpPr>
          <p:nvPr>
            <p:ph type="pic" idx="2"/>
          </p:nvPr>
        </p:nvSpPr>
        <p:spPr>
          <a:xfrm>
            <a:off x="1942415" y="634965"/>
            <a:ext cx="6591985" cy="3854970"/>
          </a:xfrm>
          <a:prstGeom prst="rect"/>
          <a:noFill/>
          <a:ln>
            <a:noFill/>
          </a:ln>
        </p:spPr>
      </p:sp>
      <p:sp>
        <p:nvSpPr>
          <p:cNvPr id="1049086" name="Google Shape;403;p19"/>
          <p:cNvSpPr txBox="1">
            <a:spLocks noGrp="1"/>
          </p:cNvSpPr>
          <p:nvPr>
            <p:ph type="body" idx="1"/>
          </p:nvPr>
        </p:nvSpPr>
        <p:spPr>
          <a:xfrm>
            <a:off x="1942415" y="5367338"/>
            <a:ext cx="6591985" cy="4937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algn="l" indent="-228600" lvl="1" marL="914400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algn="l" indent="-228600" lvl="2" marL="1371600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algn="l" indent="-228600" lvl="3" marL="18288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algn="l" indent="-228600" lvl="4" marL="22860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algn="l" indent="-228600" lvl="5" marL="27432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algn="l" indent="-228600" lvl="6" marL="32004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algn="l" indent="-228600" lvl="7" marL="36576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algn="l" indent="-228600" lvl="8" marL="4114800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9087" name="Google Shape;404;p19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92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Google Shape;441;p21"/>
          <p:cNvSpPr txBox="1"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800"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29" name="Google Shape;442;p21"/>
          <p:cNvSpPr txBox="1"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algn="l" indent="-228600" lvl="1" marL="914400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algn="l" indent="-228600" lvl="2" marL="1371600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algn="l" indent="-228600" lvl="3" marL="18288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algn="l" indent="-228600" lvl="4" marL="22860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algn="l" indent="-228600" lvl="5" marL="27432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algn="l" indent="-228600" lvl="6" marL="32004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algn="l" indent="-228600" lvl="7" marL="36576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algn="l" indent="-228600" lvl="8" marL="41148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830" name="Google Shape;443;p21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22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8" name="Google Shape;482;p23"/>
          <p:cNvSpPr txBox="1"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800"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49" name="Google Shape;483;p23"/>
          <p:cNvSpPr txBox="1">
            <a:spLocks noGrp="1"/>
          </p:cNvSpPr>
          <p:nvPr>
            <p:ph type="body" idx="1"/>
          </p:nvPr>
        </p:nvSpPr>
        <p:spPr>
          <a:xfrm>
            <a:off x="2415972" y="3505200"/>
            <a:ext cx="5653888" cy="381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algn="l" indent="-228600" lvl="1" marL="914400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</a:lvl2pPr>
            <a:lvl3pPr algn="l" indent="-228600" lvl="2" marL="1371600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</a:lvl3pPr>
            <a:lvl4pPr algn="l" indent="-228600" lvl="3" marL="1828800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</a:lvl4pPr>
            <a:lvl5pPr algn="l" indent="-228600" lvl="4" marL="2286000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9050" name="Google Shape;484;p23"/>
          <p:cNvSpPr txBox="1">
            <a:spLocks noGrp="1"/>
          </p:cNvSpPr>
          <p:nvPr>
            <p:ph type="body" idx="2"/>
          </p:nvPr>
        </p:nvSpPr>
        <p:spPr>
          <a:xfrm>
            <a:off x="1942415" y="4354046"/>
            <a:ext cx="6591985" cy="155586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algn="l" indent="-228600" lvl="1" marL="914400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algn="l" indent="-228600" lvl="2" marL="1371600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algn="l" indent="-228600" lvl="3" marL="18288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algn="l" indent="-228600" lvl="4" marL="22860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algn="l" indent="-228600" lvl="5" marL="27432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algn="l" indent="-228600" lvl="6" marL="32004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algn="l" indent="-228600" lvl="7" marL="36576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algn="l" indent="-228600" lvl="8" marL="4114800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9051" name="Google Shape;485;p23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87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Google Shape;519;p25"/>
          <p:cNvSpPr txBox="1"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94" name="Google Shape;520;p25"/>
          <p:cNvSpPr txBox="1">
            <a:spLocks noGrp="1"/>
          </p:cNvSpPr>
          <p:nvPr>
            <p:ph type="body" idx="1"/>
          </p:nvPr>
        </p:nvSpPr>
        <p:spPr>
          <a:xfrm>
            <a:off x="1942415" y="5181600"/>
            <a:ext cx="6591985" cy="72962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8795" name="Google Shape;521;p25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42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5" name="Google Shape;560;p27"/>
          <p:cNvSpPr txBox="1"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800"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196" name="Google Shape;561;p27"/>
          <p:cNvSpPr txBox="1">
            <a:spLocks noGrp="1"/>
          </p:cNvSpPr>
          <p:nvPr>
            <p:ph type="body" idx="1"/>
          </p:nvPr>
        </p:nvSpPr>
        <p:spPr>
          <a:xfrm>
            <a:off x="1942415" y="4343400"/>
            <a:ext cx="6688292" cy="838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algn="l" indent="-228600" lvl="1" marL="914400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</a:lvl2pPr>
            <a:lvl3pPr algn="l" indent="-228600" lvl="2" marL="1371600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</a:lvl3pPr>
            <a:lvl4pPr algn="l" indent="-228600" lvl="3" marL="1828800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</a:lvl4pPr>
            <a:lvl5pPr algn="l" indent="-228600" lvl="4" marL="2286000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9197" name="Google Shape;562;p27"/>
          <p:cNvSpPr txBox="1">
            <a:spLocks noGrp="1"/>
          </p:cNvSpPr>
          <p:nvPr>
            <p:ph type="body" idx="2"/>
          </p:nvPr>
        </p:nvSpPr>
        <p:spPr>
          <a:xfrm>
            <a:off x="1942415" y="5181600"/>
            <a:ext cx="6688292" cy="72962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9198" name="Google Shape;563;p27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97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3" name="Google Shape;600;p29"/>
          <p:cNvSpPr txBox="1"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64" name="Google Shape;601;p29"/>
          <p:cNvSpPr txBox="1">
            <a:spLocks noGrp="1"/>
          </p:cNvSpPr>
          <p:nvPr>
            <p:ph type="body" idx="1"/>
          </p:nvPr>
        </p:nvSpPr>
        <p:spPr>
          <a:xfrm>
            <a:off x="1942415" y="4343400"/>
            <a:ext cx="6591985" cy="838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algn="l" indent="-228600" lvl="1" marL="914400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</a:lvl2pPr>
            <a:lvl3pPr algn="l" indent="-228600" lvl="2" marL="1371600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</a:lvl3pPr>
            <a:lvl4pPr algn="l" indent="-228600" lvl="3" marL="1828800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</a:lvl4pPr>
            <a:lvl5pPr algn="l" indent="-228600" lvl="4" marL="2286000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8865" name="Google Shape;602;p29"/>
          <p:cNvSpPr txBox="1">
            <a:spLocks noGrp="1"/>
          </p:cNvSpPr>
          <p:nvPr>
            <p:ph type="body" idx="2"/>
          </p:nvPr>
        </p:nvSpPr>
        <p:spPr>
          <a:xfrm>
            <a:off x="1942415" y="5181600"/>
            <a:ext cx="6591985" cy="72962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8866" name="Google Shape;603;p29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52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6" name="Google Shape;640;p31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267" name="Google Shape;641;p31"/>
          <p:cNvSpPr txBox="1">
            <a:spLocks noGrp="1"/>
          </p:cNvSpPr>
          <p:nvPr>
            <p:ph type="body" idx="1"/>
          </p:nvPr>
        </p:nvSpPr>
        <p:spPr>
          <a:xfrm rot="5400000">
            <a:off x="3295650" y="781050"/>
            <a:ext cx="3886200" cy="65913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>
              <a:spcBef>
                <a:spcPts val="1000"/>
              </a:spcBef>
              <a:spcAft>
                <a:spcPts val="0"/>
              </a:spcAft>
              <a:buSzPts val="1800"/>
              <a:buChar char="?"/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9268" name="Google Shape;642;p31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17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1" name="Google Shape;679;p33"/>
          <p:cNvSpPr txBox="1">
            <a:spLocks noGrp="1"/>
          </p:cNvSpPr>
          <p:nvPr>
            <p:ph type="title"/>
          </p:nvPr>
        </p:nvSpPr>
        <p:spPr>
          <a:xfrm rot="5400000">
            <a:off x="5064693" y="2441248"/>
            <a:ext cx="5283817" cy="165613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9012" name="Google Shape;680;p33"/>
          <p:cNvSpPr txBox="1">
            <a:spLocks noGrp="1"/>
          </p:cNvSpPr>
          <p:nvPr>
            <p:ph type="body" idx="1"/>
          </p:nvPr>
        </p:nvSpPr>
        <p:spPr>
          <a:xfrm rot="5400000">
            <a:off x="1658681" y="911140"/>
            <a:ext cx="5283817" cy="471634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>
              <a:spcBef>
                <a:spcPts val="1000"/>
              </a:spcBef>
              <a:spcAft>
                <a:spcPts val="0"/>
              </a:spcAft>
              <a:buSzPts val="1800"/>
              <a:buChar char="?"/>
            </a:lvl1pPr>
            <a:lvl2pPr algn="l"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?"/>
            </a:lvl2pPr>
            <a:lvl3pPr algn="l"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?"/>
            </a:lvl3pPr>
            <a:lvl4pPr algn="l"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?"/>
            </a:lvl4pPr>
            <a:lvl5pPr algn="l"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?"/>
            </a:lvl5pPr>
            <a:lvl6pPr algn="l"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?"/>
            </a:lvl6pPr>
            <a:lvl7pPr algn="l"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?"/>
            </a:lvl7pPr>
            <a:lvl8pPr algn="l"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?"/>
            </a:lvl8pPr>
            <a:lvl9pPr algn="l" indent="-342900" lvl="8" marL="4114800">
              <a:spcBef>
                <a:spcPts val="1000"/>
              </a:spcBef>
              <a:spcAft>
                <a:spcPts val="0"/>
              </a:spcAft>
              <a:buSzPts val="1800"/>
              <a:buChar char="?"/>
            </a:lvl9pPr>
          </a:lstStyle>
          <a:p/>
        </p:txBody>
      </p:sp>
      <p:sp>
        <p:nvSpPr>
          <p:cNvPr id="1049013" name="Google Shape;681;p33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_rels/slideMaster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2.xml"/></Relationships>
</file>

<file path=ppt/slideMasters/_rels/slideMaster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3.xml"/></Relationships>
</file>

<file path=ppt/slideMasters/_rels/slideMaster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14.xml"/></Relationships>
</file>

<file path=ppt/slideMasters/_rels/slideMaster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15.xml"/></Relationships>
</file>

<file path=ppt/slideMasters/_rels/slideMaster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16.xml"/></Relationships>
</file>

<file path=ppt/slideMasters/_rels/slideMaster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28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10;p1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8576" name="Google Shape;11;p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77" name="Google Shape;12;p1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78" name="Google Shape;13;p1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79" name="Google Shape;14;p1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80" name="Google Shape;15;p1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81" name="Google Shape;16;p1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82" name="Google Shape;17;p1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83" name="Google Shape;18;p1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84" name="Google Shape;19;p1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85" name="Google Shape;20;p1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86" name="Google Shape;21;p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87" name="Google Shape;22;p1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0" name="Google Shape;23;p1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8588" name="Google Shape;24;p1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89" name="Google Shape;25;p1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90" name="Google Shape;26;p1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91" name="Google Shape;27;p1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92" name="Google Shape;28;p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93" name="Google Shape;29;p1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94" name="Google Shape;30;p1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95" name="Google Shape;31;p1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96" name="Google Shape;32;p1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97" name="Google Shape;33;p1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98" name="Google Shape;34;p1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599" name="Google Shape;35;p1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8600" name="Google Shape;36;p1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601" name="Google Shape;37;p1"/>
          <p:cNvSpPr/>
          <p:nvPr/>
        </p:nvSpPr>
        <p:spPr>
          <a:xfrm>
            <a:off x="-31750" y="4321175"/>
            <a:ext cx="1395412" cy="781050"/>
          </a:xfrm>
          <a:custGeom>
            <a:avLst/>
            <a:ahLst/>
            <a:rect l="l" t="t" r="r" b="b"/>
            <a:pathLst>
              <a:path w="8042" h="10000" extrusionOk="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602" name="Google Shape;38;p1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603" name="Google Shape;39;p1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604" name="Google Shape;40;p1"/>
          <p:cNvSpPr txBox="1">
            <a:spLocks noGrp="1"/>
          </p:cNvSpPr>
          <p:nvPr>
            <p:ph type="sldNum" idx="12"/>
          </p:nvPr>
        </p:nvSpPr>
        <p:spPr>
          <a:xfrm>
            <a:off x="423862" y="4529137"/>
            <a:ext cx="584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65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43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6;p3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8620" name="Google Shape;47;p3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21" name="Google Shape;48;p3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22" name="Google Shape;49;p3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23" name="Google Shape;50;p3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24" name="Google Shape;51;p3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25" name="Google Shape;52;p3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26" name="Google Shape;53;p3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27" name="Google Shape;54;p3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28" name="Google Shape;55;p3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29" name="Google Shape;56;p3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30" name="Google Shape;57;p3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31" name="Google Shape;58;p3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5" name="Google Shape;59;p3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8632" name="Google Shape;60;p3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33" name="Google Shape;61;p3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34" name="Google Shape;62;p3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35" name="Google Shape;63;p3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36" name="Google Shape;64;p3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37" name="Google Shape;65;p3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38" name="Google Shape;66;p3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39" name="Google Shape;67;p3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40" name="Google Shape;68;p3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41" name="Google Shape;69;p3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42" name="Google Shape;70;p3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643" name="Google Shape;71;p3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8644" name="Google Shape;72;p3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645" name="Google Shape;73;p3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646" name="Google Shape;74;p3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647" name="Google Shape;75;p3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648" name="Google Shape;76;p3"/>
          <p:cNvSpPr txBox="1">
            <a:spLocks noGrp="1"/>
          </p:cNvSpPr>
          <p:nvPr>
            <p:ph type="dt" idx="10"/>
          </p:nvPr>
        </p:nvSpPr>
        <p:spPr>
          <a:xfrm>
            <a:off x="1943100" y="6103937"/>
            <a:ext cx="9525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649" name="Google Shape;77;p3"/>
          <p:cNvSpPr txBox="1">
            <a:spLocks noGrp="1"/>
          </p:cNvSpPr>
          <p:nvPr>
            <p:ph type="ftr" idx="11"/>
          </p:nvPr>
        </p:nvSpPr>
        <p:spPr>
          <a:xfrm>
            <a:off x="2895600" y="6103937"/>
            <a:ext cx="4876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650" name="Google Shape;78;p3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ct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ct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ct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ct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ct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ct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ct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ct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66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43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86;p5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9199" name="Google Shape;87;p5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00" name="Google Shape;88;p5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01" name="Google Shape;89;p5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02" name="Google Shape;90;p5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03" name="Google Shape;91;p5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04" name="Google Shape;92;p5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05" name="Google Shape;93;p5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06" name="Google Shape;94;p5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07" name="Google Shape;95;p5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08" name="Google Shape;96;p5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09" name="Google Shape;97;p5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10" name="Google Shape;98;p5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45" name="Google Shape;99;p5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9211" name="Google Shape;100;p5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12" name="Google Shape;101;p5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13" name="Google Shape;102;p5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14" name="Google Shape;103;p5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15" name="Google Shape;104;p5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16" name="Google Shape;105;p5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17" name="Google Shape;106;p5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18" name="Google Shape;107;p5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19" name="Google Shape;108;p5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20" name="Google Shape;109;p5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21" name="Google Shape;110;p5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22" name="Google Shape;111;p5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9223" name="Google Shape;112;p5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224" name="Google Shape;113;p5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9225" name="Google Shape;114;p5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226" name="Google Shape;115;p5"/>
          <p:cNvSpPr txBox="1">
            <a:spLocks noGrp="1"/>
          </p:cNvSpPr>
          <p:nvPr>
            <p:ph type="dt" idx="10"/>
          </p:nvPr>
        </p:nvSpPr>
        <p:spPr>
          <a:xfrm>
            <a:off x="7772400" y="6135687"/>
            <a:ext cx="766762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227" name="Google Shape;116;p5"/>
          <p:cNvSpPr txBox="1">
            <a:spLocks noGrp="1"/>
          </p:cNvSpPr>
          <p:nvPr>
            <p:ph type="ftr" idx="11"/>
          </p:nvPr>
        </p:nvSpPr>
        <p:spPr>
          <a:xfrm>
            <a:off x="1943100" y="6135687"/>
            <a:ext cx="57165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228" name="Google Shape;117;p5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80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0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19;p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8942" name="Google Shape;120;p6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43" name="Google Shape;121;p6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44" name="Google Shape;122;p6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45" name="Google Shape;123;p6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46" name="Google Shape;124;p6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47" name="Google Shape;125;p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48" name="Google Shape;126;p6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49" name="Google Shape;127;p6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50" name="Google Shape;128;p6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51" name="Google Shape;129;p6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52" name="Google Shape;130;p6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53" name="Google Shape;131;p6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10" name="Google Shape;132;p6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8954" name="Google Shape;133;p6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55" name="Google Shape;134;p6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56" name="Google Shape;135;p6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57" name="Google Shape;136;p6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58" name="Google Shape;137;p6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59" name="Google Shape;138;p6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60" name="Google Shape;139;p6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61" name="Google Shape;140;p6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62" name="Google Shape;141;p6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63" name="Google Shape;142;p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64" name="Google Shape;143;p6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65" name="Google Shape;144;p6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8966" name="Google Shape;145;p6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967" name="Google Shape;146;p6"/>
          <p:cNvSpPr/>
          <p:nvPr/>
        </p:nvSpPr>
        <p:spPr>
          <a:xfrm rot="10800000" flipH="1">
            <a:off x="0" y="3167062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968" name="Google Shape;147;p6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</a:p>
        </p:txBody>
      </p:sp>
      <p:sp>
        <p:nvSpPr>
          <p:cNvPr id="1048969" name="Google Shape;148;p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970" name="Google Shape;149;p6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971" name="Google Shape;150;p6"/>
          <p:cNvSpPr txBox="1">
            <a:spLocks noGrp="1"/>
          </p:cNvSpPr>
          <p:nvPr>
            <p:ph type="dt" idx="10"/>
          </p:nvPr>
        </p:nvSpPr>
        <p:spPr>
          <a:xfrm>
            <a:off x="1908175" y="6129337"/>
            <a:ext cx="766762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972" name="Google Shape;151;p6"/>
          <p:cNvSpPr txBox="1">
            <a:spLocks noGrp="1"/>
          </p:cNvSpPr>
          <p:nvPr>
            <p:ph type="ftr" idx="11"/>
          </p:nvPr>
        </p:nvSpPr>
        <p:spPr>
          <a:xfrm>
            <a:off x="2674937" y="6129337"/>
            <a:ext cx="51736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973" name="Google Shape;152;p6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3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78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160;p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8726" name="Google Shape;161;p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27" name="Google Shape;162;p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28" name="Google Shape;163;p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29" name="Google Shape;164;p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30" name="Google Shape;165;p8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31" name="Google Shape;166;p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32" name="Google Shape;167;p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33" name="Google Shape;168;p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34" name="Google Shape;169;p8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35" name="Google Shape;170;p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36" name="Google Shape;171;p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37" name="Google Shape;172;p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0" name="Google Shape;173;p8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8738" name="Google Shape;174;p8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39" name="Google Shape;175;p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40" name="Google Shape;176;p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41" name="Google Shape;177;p8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42" name="Google Shape;178;p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43" name="Google Shape;179;p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44" name="Google Shape;180;p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45" name="Google Shape;181;p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46" name="Google Shape;182;p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47" name="Google Shape;183;p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48" name="Google Shape;184;p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49" name="Google Shape;185;p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8750" name="Google Shape;186;p8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751" name="Google Shape;187;p8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752" name="Google Shape;188;p8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</a:p>
        </p:txBody>
      </p:sp>
      <p:sp>
        <p:nvSpPr>
          <p:cNvPr id="1048753" name="Google Shape;189;p8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754" name="Google Shape;190;p8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755" name="Google Shape;191;p8"/>
          <p:cNvSpPr txBox="1">
            <a:spLocks noGrp="1"/>
          </p:cNvSpPr>
          <p:nvPr>
            <p:ph type="dt" idx="10"/>
          </p:nvPr>
        </p:nvSpPr>
        <p:spPr>
          <a:xfrm>
            <a:off x="1828800" y="6111875"/>
            <a:ext cx="766762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756" name="Google Shape;192;p8"/>
          <p:cNvSpPr txBox="1">
            <a:spLocks noGrp="1"/>
          </p:cNvSpPr>
          <p:nvPr>
            <p:ph type="ftr" idx="11"/>
          </p:nvPr>
        </p:nvSpPr>
        <p:spPr>
          <a:xfrm>
            <a:off x="2595562" y="6135687"/>
            <a:ext cx="5064125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757" name="Google Shape;193;p8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67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03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202;p1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8902" name="Google Shape;203;p10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03" name="Google Shape;204;p10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04" name="Google Shape;205;p10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05" name="Google Shape;206;p10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06" name="Google Shape;207;p10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07" name="Google Shape;208;p10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08" name="Google Shape;209;p10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09" name="Google Shape;210;p10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10" name="Google Shape;211;p10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11" name="Google Shape;212;p1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12" name="Google Shape;213;p10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13" name="Google Shape;214;p10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05" name="Google Shape;215;p10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8914" name="Google Shape;216;p10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15" name="Google Shape;217;p10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16" name="Google Shape;218;p10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17" name="Google Shape;219;p1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18" name="Google Shape;220;p10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19" name="Google Shape;221;p10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20" name="Google Shape;222;p10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21" name="Google Shape;223;p10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22" name="Google Shape;224;p10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23" name="Google Shape;225;p10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24" name="Google Shape;226;p10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25" name="Google Shape;227;p10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8926" name="Google Shape;228;p10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927" name="Google Shape;229;p10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928" name="Google Shape;230;p10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</a:p>
        </p:txBody>
      </p:sp>
      <p:sp>
        <p:nvSpPr>
          <p:cNvPr id="1048929" name="Google Shape;231;p10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930" name="Google Shape;232;p10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931" name="Google Shape;233;p10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932" name="Google Shape;234;p10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933" name="Google Shape;235;p10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2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28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246;p12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9088" name="Google Shape;247;p12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89" name="Google Shape;248;p1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90" name="Google Shape;249;p12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91" name="Google Shape;250;p12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92" name="Google Shape;251;p12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93" name="Google Shape;252;p12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94" name="Google Shape;253;p12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95" name="Google Shape;254;p12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96" name="Google Shape;255;p12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97" name="Google Shape;256;p12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98" name="Google Shape;257;p12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99" name="Google Shape;258;p1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30" name="Google Shape;259;p12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9100" name="Google Shape;260;p12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01" name="Google Shape;261;p12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02" name="Google Shape;262;p12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03" name="Google Shape;263;p12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04" name="Google Shape;264;p12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05" name="Google Shape;265;p1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06" name="Google Shape;266;p12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07" name="Google Shape;267;p12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08" name="Google Shape;268;p12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09" name="Google Shape;269;p12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10" name="Google Shape;270;p12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11" name="Google Shape;271;p12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9112" name="Google Shape;272;p12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113" name="Google Shape;273;p12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114" name="Google Shape;274;p12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9115" name="Google Shape;275;p12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116" name="Google Shape;276;p12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117" name="Google Shape;277;p12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118" name="Google Shape;278;p12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ct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ct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ct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ct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ct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ct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ct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ct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7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98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285;p14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8867" name="Google Shape;286;p14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68" name="Google Shape;287;p14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69" name="Google Shape;288;p14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70" name="Google Shape;289;p1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71" name="Google Shape;290;p14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72" name="Google Shape;291;p14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73" name="Google Shape;292;p14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74" name="Google Shape;293;p14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75" name="Google Shape;294;p14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76" name="Google Shape;295;p14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77" name="Google Shape;296;p14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78" name="Google Shape;297;p14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00" name="Google Shape;298;p14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8879" name="Google Shape;299;p14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80" name="Google Shape;300;p14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81" name="Google Shape;301;p14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82" name="Google Shape;302;p14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83" name="Google Shape;303;p14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84" name="Google Shape;304;p14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85" name="Google Shape;305;p14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86" name="Google Shape;306;p1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87" name="Google Shape;307;p14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88" name="Google Shape;308;p14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89" name="Google Shape;309;p14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90" name="Google Shape;310;p14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8891" name="Google Shape;311;p14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892" name="Google Shape;312;p14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893" name="Google Shape;313;p14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</a:p>
        </p:txBody>
      </p:sp>
      <p:sp>
        <p:nvSpPr>
          <p:cNvPr id="1048894" name="Google Shape;314;p14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895" name="Google Shape;315;p14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896" name="Google Shape;316;p14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897" name="Google Shape;317;p14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898" name="Google Shape;318;p14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1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3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324;p1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9123" name="Google Shape;325;p16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24" name="Google Shape;326;p16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25" name="Google Shape;327;p16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26" name="Google Shape;328;p16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27" name="Google Shape;329;p16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28" name="Google Shape;330;p1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29" name="Google Shape;331;p16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30" name="Google Shape;332;p16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31" name="Google Shape;333;p16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32" name="Google Shape;334;p16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33" name="Google Shape;335;p16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34" name="Google Shape;336;p16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35" name="Google Shape;337;p16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9135" name="Google Shape;338;p16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36" name="Google Shape;339;p16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37" name="Google Shape;340;p16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38" name="Google Shape;341;p16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39" name="Google Shape;342;p16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40" name="Google Shape;343;p16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41" name="Google Shape;344;p16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42" name="Google Shape;345;p16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43" name="Google Shape;346;p16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44" name="Google Shape;347;p1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45" name="Google Shape;348;p16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46" name="Google Shape;349;p16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9147" name="Google Shape;350;p16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148" name="Google Shape;351;p16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149" name="Google Shape;352;p16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</a:p>
        </p:txBody>
      </p:sp>
      <p:sp>
        <p:nvSpPr>
          <p:cNvPr id="1049150" name="Google Shape;353;p1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9151" name="Google Shape;354;p16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152" name="Google Shape;355;p16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153" name="Google Shape;356;p16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154" name="Google Shape;357;p16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90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8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23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366;p1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9052" name="Google Shape;367;p1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53" name="Google Shape;368;p1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54" name="Google Shape;369;p1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55" name="Google Shape;370;p1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56" name="Google Shape;371;p18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57" name="Google Shape;372;p1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58" name="Google Shape;373;p1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59" name="Google Shape;374;p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60" name="Google Shape;375;p18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61" name="Google Shape;376;p1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62" name="Google Shape;377;p1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63" name="Google Shape;378;p1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25" name="Google Shape;379;p18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9064" name="Google Shape;380;p18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65" name="Google Shape;381;p1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66" name="Google Shape;382;p1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67" name="Google Shape;383;p18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68" name="Google Shape;384;p1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69" name="Google Shape;385;p1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70" name="Google Shape;386;p1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71" name="Google Shape;387;p1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72" name="Google Shape;388;p1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73" name="Google Shape;389;p1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74" name="Google Shape;390;p1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75" name="Google Shape;391;p1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9076" name="Google Shape;392;p18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077" name="Google Shape;393;p18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078" name="Google Shape;394;p18"/>
          <p:cNvSpPr txBox="1"/>
          <p:nvPr/>
        </p:nvSpPr>
        <p:spPr>
          <a:xfrm>
            <a:off x="1949450" y="618807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9079" name="Google Shape;395;p18"/>
          <p:cNvSpPr txBox="1"/>
          <p:nvPr/>
        </p:nvSpPr>
        <p:spPr>
          <a:xfrm>
            <a:off x="2790825" y="6210300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9080" name="Google Shape;396;p18"/>
          <p:cNvSpPr txBox="1"/>
          <p:nvPr/>
        </p:nvSpPr>
        <p:spPr>
          <a:xfrm>
            <a:off x="7954962" y="6091237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</a:p>
        </p:txBody>
      </p:sp>
      <p:sp>
        <p:nvSpPr>
          <p:cNvPr id="1049081" name="Google Shape;397;p18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9082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083" name="Google Shape;399;p18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6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88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406;p2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8796" name="Google Shape;407;p20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97" name="Google Shape;408;p20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98" name="Google Shape;409;p20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99" name="Google Shape;410;p20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00" name="Google Shape;411;p20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01" name="Google Shape;412;p20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02" name="Google Shape;413;p20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03" name="Google Shape;414;p20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04" name="Google Shape;415;p20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05" name="Google Shape;416;p2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06" name="Google Shape;417;p20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07" name="Google Shape;418;p20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90" name="Google Shape;419;p20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8808" name="Google Shape;420;p20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09" name="Google Shape;421;p20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10" name="Google Shape;422;p20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11" name="Google Shape;423;p2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12" name="Google Shape;424;p20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13" name="Google Shape;425;p20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14" name="Google Shape;426;p20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15" name="Google Shape;427;p20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16" name="Google Shape;428;p20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17" name="Google Shape;429;p20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18" name="Google Shape;430;p20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19" name="Google Shape;431;p20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8820" name="Google Shape;432;p20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821" name="Google Shape;433;p20"/>
          <p:cNvSpPr/>
          <p:nvPr/>
        </p:nvSpPr>
        <p:spPr>
          <a:xfrm rot="10800000" flipH="1">
            <a:off x="0" y="3167062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822" name="Google Shape;434;p20"/>
          <p:cNvSpPr txBox="1"/>
          <p:nvPr/>
        </p:nvSpPr>
        <p:spPr>
          <a:xfrm>
            <a:off x="1949450" y="618807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8823" name="Google Shape;435;p20"/>
          <p:cNvSpPr txBox="1"/>
          <p:nvPr/>
        </p:nvSpPr>
        <p:spPr>
          <a:xfrm>
            <a:off x="2790825" y="6210300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8824" name="Google Shape;436;p20"/>
          <p:cNvSpPr txBox="1"/>
          <p:nvPr/>
        </p:nvSpPr>
        <p:spPr>
          <a:xfrm>
            <a:off x="7954962" y="6091237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</a:p>
        </p:txBody>
      </p:sp>
      <p:sp>
        <p:nvSpPr>
          <p:cNvPr id="1048825" name="Google Shape;437;p20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826" name="Google Shape;438;p20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827" name="Google Shape;439;p20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69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18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445;p22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9014" name="Google Shape;446;p22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15" name="Google Shape;447;p2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16" name="Google Shape;448;p22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17" name="Google Shape;449;p22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18" name="Google Shape;450;p22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19" name="Google Shape;451;p22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20" name="Google Shape;452;p22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21" name="Google Shape;453;p22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22" name="Google Shape;454;p22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23" name="Google Shape;455;p22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24" name="Google Shape;456;p22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25" name="Google Shape;457;p2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20" name="Google Shape;458;p22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9026" name="Google Shape;459;p22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27" name="Google Shape;460;p22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28" name="Google Shape;461;p22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29" name="Google Shape;462;p22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30" name="Google Shape;463;p22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31" name="Google Shape;464;p2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32" name="Google Shape;465;p22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33" name="Google Shape;466;p22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34" name="Google Shape;467;p22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35" name="Google Shape;468;p22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36" name="Google Shape;469;p22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37" name="Google Shape;470;p22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9038" name="Google Shape;471;p22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039" name="Google Shape;472;p22"/>
          <p:cNvSpPr/>
          <p:nvPr/>
        </p:nvSpPr>
        <p:spPr>
          <a:xfrm rot="10800000" flipH="1">
            <a:off x="0" y="3167062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040" name="Google Shape;473;p22"/>
          <p:cNvSpPr txBox="1"/>
          <p:nvPr/>
        </p:nvSpPr>
        <p:spPr>
          <a:xfrm>
            <a:off x="1808162" y="647700"/>
            <a:ext cx="457200" cy="5857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sz="8000" i="0" lang="en-US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</a:p>
        </p:txBody>
      </p:sp>
      <p:sp>
        <p:nvSpPr>
          <p:cNvPr id="1049041" name="Google Shape;474;p22"/>
          <p:cNvSpPr txBox="1"/>
          <p:nvPr/>
        </p:nvSpPr>
        <p:spPr>
          <a:xfrm>
            <a:off x="8169275" y="2905125"/>
            <a:ext cx="457200" cy="5842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sz="8000" i="0" lang="en-US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sp>
        <p:nvSpPr>
          <p:cNvPr id="1049042" name="Google Shape;475;p22"/>
          <p:cNvSpPr txBox="1"/>
          <p:nvPr/>
        </p:nvSpPr>
        <p:spPr>
          <a:xfrm>
            <a:off x="1949450" y="618807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9043" name="Google Shape;476;p22"/>
          <p:cNvSpPr txBox="1"/>
          <p:nvPr/>
        </p:nvSpPr>
        <p:spPr>
          <a:xfrm>
            <a:off x="2790825" y="6210300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9044" name="Google Shape;477;p22"/>
          <p:cNvSpPr txBox="1"/>
          <p:nvPr/>
        </p:nvSpPr>
        <p:spPr>
          <a:xfrm>
            <a:off x="7954962" y="6091237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</a:p>
        </p:txBody>
      </p:sp>
      <p:sp>
        <p:nvSpPr>
          <p:cNvPr id="1049045" name="Google Shape;478;p22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9046" name="Google Shape;479;p22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047" name="Google Shape;480;p22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5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83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487;p24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8764" name="Google Shape;488;p24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65" name="Google Shape;489;p24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66" name="Google Shape;490;p24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67" name="Google Shape;491;p2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68" name="Google Shape;492;p24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69" name="Google Shape;493;p24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70" name="Google Shape;494;p24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71" name="Google Shape;495;p24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72" name="Google Shape;496;p24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73" name="Google Shape;497;p24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74" name="Google Shape;498;p24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75" name="Google Shape;499;p24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5" name="Google Shape;500;p24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8776" name="Google Shape;501;p24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77" name="Google Shape;502;p24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78" name="Google Shape;503;p24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79" name="Google Shape;504;p24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80" name="Google Shape;505;p24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81" name="Google Shape;506;p24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82" name="Google Shape;507;p24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83" name="Google Shape;508;p2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84" name="Google Shape;509;p24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85" name="Google Shape;510;p24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86" name="Google Shape;511;p24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787" name="Google Shape;512;p24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8788" name="Google Shape;513;p24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789" name="Google Shape;514;p24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790" name="Google Shape;515;p24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791" name="Google Shape;516;p24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792" name="Google Shape;517;p24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68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38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523;p2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9161" name="Google Shape;524;p26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62" name="Google Shape;525;p26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63" name="Google Shape;526;p26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64" name="Google Shape;527;p26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65" name="Google Shape;528;p26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66" name="Google Shape;529;p2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67" name="Google Shape;530;p26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68" name="Google Shape;531;p26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69" name="Google Shape;532;p26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70" name="Google Shape;533;p26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71" name="Google Shape;534;p26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72" name="Google Shape;535;p26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40" name="Google Shape;536;p26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9173" name="Google Shape;537;p26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74" name="Google Shape;538;p26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75" name="Google Shape;539;p26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76" name="Google Shape;540;p26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77" name="Google Shape;541;p26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78" name="Google Shape;542;p26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79" name="Google Shape;543;p26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80" name="Google Shape;544;p26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81" name="Google Shape;545;p26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82" name="Google Shape;546;p2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83" name="Google Shape;547;p26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184" name="Google Shape;548;p26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9185" name="Google Shape;549;p26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186" name="Google Shape;550;p26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187" name="Google Shape;551;p26"/>
          <p:cNvSpPr txBox="1"/>
          <p:nvPr/>
        </p:nvSpPr>
        <p:spPr>
          <a:xfrm>
            <a:off x="1808162" y="647700"/>
            <a:ext cx="457200" cy="5857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sz="8000" i="0" lang="en-US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</a:p>
        </p:txBody>
      </p:sp>
      <p:sp>
        <p:nvSpPr>
          <p:cNvPr id="1049188" name="Google Shape;552;p26"/>
          <p:cNvSpPr txBox="1"/>
          <p:nvPr/>
        </p:nvSpPr>
        <p:spPr>
          <a:xfrm>
            <a:off x="8169275" y="2905125"/>
            <a:ext cx="457200" cy="5842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sz="8000" i="0" lang="en-US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sp>
        <p:nvSpPr>
          <p:cNvPr id="1049189" name="Google Shape;553;p26"/>
          <p:cNvSpPr txBox="1"/>
          <p:nvPr/>
        </p:nvSpPr>
        <p:spPr>
          <a:xfrm>
            <a:off x="1949450" y="618807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9190" name="Google Shape;554;p26"/>
          <p:cNvSpPr txBox="1"/>
          <p:nvPr/>
        </p:nvSpPr>
        <p:spPr>
          <a:xfrm>
            <a:off x="2790825" y="6210300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9191" name="Google Shape;555;p26"/>
          <p:cNvSpPr txBox="1"/>
          <p:nvPr/>
        </p:nvSpPr>
        <p:spPr>
          <a:xfrm>
            <a:off x="7954962" y="6091237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</a:p>
        </p:txBody>
      </p:sp>
      <p:sp>
        <p:nvSpPr>
          <p:cNvPr id="1049192" name="Google Shape;556;p2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9193" name="Google Shape;557;p26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194" name="Google Shape;558;p26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9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93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565;p2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8831" name="Google Shape;566;p2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32" name="Google Shape;567;p2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33" name="Google Shape;568;p2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34" name="Google Shape;569;p2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35" name="Google Shape;570;p28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36" name="Google Shape;571;p2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37" name="Google Shape;572;p2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38" name="Google Shape;573;p2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39" name="Google Shape;574;p28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40" name="Google Shape;575;p2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41" name="Google Shape;576;p2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42" name="Google Shape;577;p2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95" name="Google Shape;578;p28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8843" name="Google Shape;579;p28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44" name="Google Shape;580;p2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45" name="Google Shape;581;p2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46" name="Google Shape;582;p28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47" name="Google Shape;583;p2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48" name="Google Shape;584;p2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49" name="Google Shape;585;p2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50" name="Google Shape;586;p2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51" name="Google Shape;587;p2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52" name="Google Shape;588;p2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53" name="Google Shape;589;p2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854" name="Google Shape;590;p2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8855" name="Google Shape;591;p28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856" name="Google Shape;592;p28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857" name="Google Shape;593;p28"/>
          <p:cNvSpPr txBox="1"/>
          <p:nvPr/>
        </p:nvSpPr>
        <p:spPr>
          <a:xfrm>
            <a:off x="1949450" y="618807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8858" name="Google Shape;594;p28"/>
          <p:cNvSpPr txBox="1"/>
          <p:nvPr/>
        </p:nvSpPr>
        <p:spPr>
          <a:xfrm>
            <a:off x="2790825" y="6210300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8859" name="Google Shape;595;p28"/>
          <p:cNvSpPr txBox="1"/>
          <p:nvPr/>
        </p:nvSpPr>
        <p:spPr>
          <a:xfrm>
            <a:off x="7954962" y="6091237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</a:p>
        </p:txBody>
      </p:sp>
      <p:sp>
        <p:nvSpPr>
          <p:cNvPr id="1048860" name="Google Shape;596;p28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861" name="Google Shape;597;p28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8862" name="Google Shape;598;p28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0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48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605;p3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9234" name="Google Shape;606;p30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35" name="Google Shape;607;p30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36" name="Google Shape;608;p30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37" name="Google Shape;609;p30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38" name="Google Shape;610;p30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39" name="Google Shape;611;p30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40" name="Google Shape;612;p30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41" name="Google Shape;613;p30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42" name="Google Shape;614;p30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43" name="Google Shape;615;p3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44" name="Google Shape;616;p30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45" name="Google Shape;617;p30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50" name="Google Shape;618;p30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9246" name="Google Shape;619;p30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47" name="Google Shape;620;p30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48" name="Google Shape;621;p30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49" name="Google Shape;622;p3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50" name="Google Shape;623;p30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51" name="Google Shape;624;p30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52" name="Google Shape;625;p30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53" name="Google Shape;626;p30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54" name="Google Shape;627;p30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55" name="Google Shape;628;p30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56" name="Google Shape;629;p30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257" name="Google Shape;630;p30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9258" name="Google Shape;631;p30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259" name="Google Shape;632;p30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260" name="Google Shape;633;p30"/>
          <p:cNvSpPr txBox="1"/>
          <p:nvPr/>
        </p:nvSpPr>
        <p:spPr>
          <a:xfrm>
            <a:off x="1949450" y="618807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9261" name="Google Shape;634;p30"/>
          <p:cNvSpPr txBox="1"/>
          <p:nvPr/>
        </p:nvSpPr>
        <p:spPr>
          <a:xfrm>
            <a:off x="2790825" y="6210300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9262" name="Google Shape;635;p30"/>
          <p:cNvSpPr txBox="1"/>
          <p:nvPr/>
        </p:nvSpPr>
        <p:spPr>
          <a:xfrm>
            <a:off x="7954962" y="6091237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</a:p>
        </p:txBody>
      </p:sp>
      <p:sp>
        <p:nvSpPr>
          <p:cNvPr id="1049263" name="Google Shape;636;p30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9264" name="Google Shape;637;p30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265" name="Google Shape;638;p30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81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1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644;p32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8979" name="Google Shape;645;p32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ah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80" name="Google Shape;646;p3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ah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81" name="Google Shape;647;p32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ah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82" name="Google Shape;648;p32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ah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83" name="Google Shape;649;p32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ah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84" name="Google Shape;650;p32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ah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85" name="Google Shape;651;p32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86" name="Google Shape;652;p32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ah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87" name="Google Shape;653;p32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ah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88" name="Google Shape;654;p32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ah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89" name="Google Shape;655;p32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90" name="Google Shape;656;p3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ah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15" name="Google Shape;657;p32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48991" name="Google Shape;658;p32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ah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92" name="Google Shape;659;p32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ah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93" name="Google Shape;660;p32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ah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94" name="Google Shape;661;p32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ah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95" name="Google Shape;662;p32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ah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96" name="Google Shape;663;p3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ah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97" name="Google Shape;664;p32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ah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98" name="Google Shape;665;p32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ah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8999" name="Google Shape;666;p32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ah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00" name="Google Shape;667;p32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ah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01" name="Google Shape;668;p32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ah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9002" name="Google Shape;669;p32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ah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anchorCtr="0" bIns="45700" lIns="91425" rIns="91425" spcFirstLastPara="1" tIns="45700" wrap="square">
              <a:noAutofit/>
            </a:bodyPr>
            <a:p>
              <a:pPr algn="l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0" sz="180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49003" name="Google Shape;670;p32"/>
          <p:cNvSpPr/>
          <p:nvPr/>
        </p:nvSpPr>
        <p:spPr>
          <a:xfrm>
            <a:off x="0" y="0"/>
            <a:ext cx="182562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004" name="Google Shape;671;p32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ah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sz="180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9005" name="Google Shape;672;p32"/>
          <p:cNvSpPr txBox="1"/>
          <p:nvPr/>
        </p:nvSpPr>
        <p:spPr>
          <a:xfrm>
            <a:off x="1949450" y="618807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9006" name="Google Shape;673;p32"/>
          <p:cNvSpPr txBox="1"/>
          <p:nvPr/>
        </p:nvSpPr>
        <p:spPr>
          <a:xfrm>
            <a:off x="2790825" y="6210300"/>
            <a:ext cx="5029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9007" name="Google Shape;674;p32"/>
          <p:cNvSpPr txBox="1"/>
          <p:nvPr/>
        </p:nvSpPr>
        <p:spPr>
          <a:xfrm>
            <a:off x="7954962" y="6091237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</a:p>
        </p:txBody>
      </p:sp>
      <p:sp>
        <p:nvSpPr>
          <p:cNvPr id="1049008" name="Google Shape;675;p32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3600" i="0" strike="noStrike" u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9009" name="Google Shape;676;p32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b="0" cap="none" sz="18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l" indent="-330200" lvl="1" marL="914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?"/>
              <a:defRPr b="0" cap="none" sz="16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l" indent="-317500" lvl="2" marL="1371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?"/>
              <a:defRPr b="0" cap="none" sz="14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l" indent="-304800" lvl="3" marL="1828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l" indent="-304800" lvl="4" marL="22860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l" indent="-304800" lvl="5" marL="27432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l" indent="-304800" lvl="6" marL="32004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l" indent="-304800" lvl="7" marL="36576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l" indent="-304800" lvl="8" marL="41148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?"/>
              <a:defRPr b="0" cap="none" sz="1200" i="0" strike="noStrike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49010" name="Google Shape;677;p32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4" r:id="rId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imb.ac.in/imr/previous-issues/dynamic-sep-2023.php?utm_source=chatgpt.com" TargetMode="External"/><Relationship Id="rId2" Type="http://schemas.openxmlformats.org/officeDocument/2006/relationships/hyperlink" Target="https://www.researchgate.net/publication/391994200_Sector-Wise_Portfolio_Risk_Assessment_Monte_Carlo_Simulation_of_NIFTY_50_Stocks?utm_source=chatgpt.com" TargetMode="External"/><Relationship Id="rId3" Type="http://schemas.openxmlformats.org/officeDocument/2006/relationships/hyperlink" Target="https://www.sciencedirect.com/science/article/pii/S0952197623000271?utm_source=chatgpt.com" TargetMode="External"/><Relationship Id="rId4" Type="http://schemas.openxmlformats.org/officeDocument/2006/relationships/hyperlink" Target="https://link.springer.com/article/10.1007/s44163-025-00656-4?utm_source=chatgpt.com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689;p34"/>
          <p:cNvSpPr txBox="1"/>
          <p:nvPr/>
        </p:nvSpPr>
        <p:spPr>
          <a:xfrm>
            <a:off x="876300" y="42862"/>
            <a:ext cx="8153400" cy="858837"/>
          </a:xfrm>
          <a:prstGeom prst="rect"/>
          <a:solidFill>
            <a:schemeClr val="lt1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sz="2400" i="0" lang="en-US" u="non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DAYANANDA SAGAR UNIVERSITY</a:t>
            </a:r>
          </a:p>
          <a:p>
            <a:pPr algn="ctr" indent="0" lvl="0" marL="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5672"/>
              </a:buClr>
              <a:buSzPts val="2000"/>
              <a:buFont typeface="Cambria"/>
              <a:buNone/>
            </a:pPr>
            <a:r>
              <a:rPr b="1" sz="2000" i="0" lang="en-US" u="none">
                <a:solidFill>
                  <a:srgbClr val="0E5672"/>
                </a:solidFill>
                <a:latin typeface="Cambria"/>
                <a:ea typeface="Cambria"/>
                <a:cs typeface="Cambria"/>
                <a:sym typeface="Cambria"/>
              </a:rPr>
              <a:t>SCHOOL OF ENGINEERING</a:t>
            </a:r>
          </a:p>
        </p:txBody>
      </p:sp>
      <p:sp>
        <p:nvSpPr>
          <p:cNvPr id="1048609" name="Google Shape;690;p34"/>
          <p:cNvSpPr txBox="1">
            <a:spLocks noGrp="1"/>
          </p:cNvSpPr>
          <p:nvPr>
            <p:ph type="subTitle" idx="1"/>
          </p:nvPr>
        </p:nvSpPr>
        <p:spPr>
          <a:xfrm>
            <a:off x="876300" y="2779712"/>
            <a:ext cx="7284474" cy="3651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ctr">
              <a:lnSpc>
                <a:spcPts val="2632"/>
              </a:lnSpc>
            </a:pPr>
            <a:r>
              <a:rPr b="1" dirty="0" sz="2000" lang="en-US">
                <a:solidFill>
                  <a:srgbClr val="002B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DRAWDOWN RISK LABELING OF NIFTY 50 SECTOR PORTFOLIOS DURING MACRO STRESS EVENTS</a:t>
            </a:r>
          </a:p>
        </p:txBody>
      </p:sp>
      <p:sp>
        <p:nvSpPr>
          <p:cNvPr id="1048610" name="Google Shape;691;p34"/>
          <p:cNvSpPr txBox="1"/>
          <p:nvPr/>
        </p:nvSpPr>
        <p:spPr>
          <a:xfrm>
            <a:off x="2354825" y="4826715"/>
            <a:ext cx="5016295" cy="13741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dirty="0" i="0" lang="en-US" u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Presented By: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dk1"/>
              </a:buClr>
              <a:buSzPts val="1800"/>
            </a:pPr>
            <a:r>
              <a:rPr b="1" dirty="0" lang="en-IN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AKSHATA I KALLIMATH            </a:t>
            </a:r>
            <a:r>
              <a:rPr b="1" dirty="0" lang="en-IN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ENG23CS0016</a:t>
            </a:r>
            <a:endParaRPr b="1" dirty="0" i="0" lang="en-IN" u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chemeClr val="dk1"/>
              </a:buClr>
              <a:buSzPts val="1800"/>
            </a:pPr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BASANAGOUDA                             ENG23CS0028</a:t>
            </a:r>
          </a:p>
          <a:p>
            <a:pPr algn="ctr" fontAlgn="ctr"/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GURU KUMAR                               ENG23CS0070</a:t>
            </a:r>
          </a:p>
          <a:p>
            <a:pPr algn="ctr" fontAlgn="ctr"/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INDUSHREE D N                            ENG23CS0080</a:t>
            </a: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 sz="180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11" name="Google Shape;692;p34"/>
          <p:cNvSpPr txBox="1"/>
          <p:nvPr/>
        </p:nvSpPr>
        <p:spPr>
          <a:xfrm>
            <a:off x="1619250" y="2084387"/>
            <a:ext cx="5905500" cy="802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</a:pPr>
            <a:r>
              <a:rPr b="1" dirty="0" sz="2400" i="0" lang="en-US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Major Project Phase-I</a:t>
            </a:r>
          </a:p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</a:pPr>
            <a:r>
              <a:rPr b="1" dirty="0" sz="2400" lang="en-US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Review 0</a:t>
            </a:r>
            <a:endParaRPr dirty="0"/>
          </a:p>
        </p:txBody>
      </p:sp>
      <p:pic>
        <p:nvPicPr>
          <p:cNvPr id="2097152" name="Google Shape;693;p3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0" y="17462"/>
            <a:ext cx="1284287" cy="1112837"/>
          </a:xfrm>
          <a:prstGeom prst="rect"/>
          <a:noFill/>
          <a:ln>
            <a:noFill/>
          </a:ln>
        </p:spPr>
      </p:pic>
      <p:sp>
        <p:nvSpPr>
          <p:cNvPr id="1048612" name="Google Shape;694;p34"/>
          <p:cNvSpPr txBox="1"/>
          <p:nvPr/>
        </p:nvSpPr>
        <p:spPr>
          <a:xfrm>
            <a:off x="381000" y="1187450"/>
            <a:ext cx="8763000" cy="73183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47"/>
              </a:buClr>
              <a:buSzPts val="2800"/>
              <a:buFont typeface="Calibri"/>
              <a:buNone/>
            </a:pPr>
            <a:r>
              <a:rPr b="1" dirty="0" sz="2800" i="0" lang="en-US" u="none">
                <a:solidFill>
                  <a:srgbClr val="0D0D47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</a:t>
            </a:r>
            <a:r>
              <a:rPr b="1" dirty="0" sz="2800" lang="en-US">
                <a:solidFill>
                  <a:srgbClr val="0D0D47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</a:p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47"/>
              </a:buClr>
              <a:buSzPts val="2800"/>
              <a:buFont typeface="Calibri"/>
              <a:buNone/>
            </a:pPr>
            <a:r>
              <a:rPr b="1" dirty="0" sz="2800" lang="en-US">
                <a:solidFill>
                  <a:srgbClr val="0D0D47"/>
                </a:solidFill>
                <a:latin typeface="Calibri"/>
                <a:ea typeface="Calibri"/>
                <a:cs typeface="Calibri"/>
                <a:sym typeface="Calibri"/>
              </a:rPr>
              <a:t>2026-2027</a:t>
            </a:r>
          </a:p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47"/>
              </a:buClr>
              <a:buSzPts val="2800"/>
              <a:buFont typeface="Calibri"/>
              <a:buNone/>
            </a:pPr>
            <a:endParaRPr dirty="0"/>
          </a:p>
        </p:txBody>
      </p:sp>
      <p:sp>
        <p:nvSpPr>
          <p:cNvPr id="1048613" name="Google Shape;695;p34"/>
          <p:cNvSpPr txBox="1"/>
          <p:nvPr/>
        </p:nvSpPr>
        <p:spPr>
          <a:xfrm>
            <a:off x="1619250" y="4005262"/>
            <a:ext cx="5905500" cy="70784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17"/>
              </a:buClr>
              <a:buSzPts val="2000"/>
              <a:buFont typeface="Calibri"/>
              <a:buNone/>
            </a:pPr>
            <a:r>
              <a:rPr b="1" dirty="0" sz="2000" i="0" lang="en-US" u="none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      Under the Supervision</a:t>
            </a:r>
            <a:endParaRPr dirty="0"/>
          </a:p>
          <a:p>
            <a:pPr algn="ctr"/>
            <a:r>
              <a:rPr b="1" dirty="0" sz="2000" i="0" lang="en-US" u="none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1"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Yashpal Gupta S</a:t>
            </a:r>
            <a:endParaRPr dirty="0"/>
          </a:p>
        </p:txBody>
      </p:sp>
      <p:sp>
        <p:nvSpPr>
          <p:cNvPr id="1048614" name="Google Shape;696;p34"/>
          <p:cNvSpPr txBox="1"/>
          <p:nvPr/>
        </p:nvSpPr>
        <p:spPr>
          <a:xfrm>
            <a:off x="423862" y="4529137"/>
            <a:ext cx="584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b="0" sz="2000" i="0" lang="en-US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701;p35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b="1" dirty="0" lang="en-US">
                <a:latin typeface="Calibri"/>
                <a:cs typeface="Calibri"/>
                <a:sym typeface="Calibri"/>
              </a:rPr>
              <a:t>Outline</a:t>
            </a:r>
            <a:endParaRPr dirty="0"/>
          </a:p>
        </p:txBody>
      </p:sp>
      <p:sp>
        <p:nvSpPr>
          <p:cNvPr id="1048657" name="Google Shape;702;p35"/>
          <p:cNvSpPr txBox="1">
            <a:spLocks noGrp="1"/>
          </p:cNvSpPr>
          <p:nvPr>
            <p:ph type="body" idx="1"/>
          </p:nvPr>
        </p:nvSpPr>
        <p:spPr>
          <a:xfrm>
            <a:off x="1399309" y="1662545"/>
            <a:ext cx="6868391" cy="393974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-342900" lvl="0" marL="3429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b="0" cap="none" dirty="0" sz="1800" i="0" lang="en-US" strike="noStrike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 Definition and Project Relevance</a:t>
            </a:r>
            <a:endParaRPr dirty="0"/>
          </a:p>
          <a:p>
            <a:pPr algn="l" indent="-342900" lvl="0" marL="3429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dirty="0" lang="en-US">
                <a:latin typeface="Calibri"/>
                <a:cs typeface="Calibri"/>
                <a:sym typeface="Calibri"/>
              </a:rPr>
              <a:t>Literature Review and Research Gap</a:t>
            </a:r>
            <a:endParaRPr dirty="0"/>
          </a:p>
          <a:p>
            <a:pPr algn="l" indent="-342900" lvl="0" marL="3429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dirty="0" lang="en-US">
                <a:latin typeface="Calibri"/>
                <a:cs typeface="Calibri"/>
                <a:sym typeface="Calibri"/>
              </a:rPr>
              <a:t>Proposed Methodology </a:t>
            </a:r>
            <a:endParaRPr dirty="0"/>
          </a:p>
          <a:p>
            <a:pPr algn="l" indent="-342900" lvl="0" marL="3429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dirty="0" lang="en-US">
                <a:latin typeface="Calibri"/>
                <a:cs typeface="Calibri"/>
                <a:sym typeface="Calibri"/>
              </a:rPr>
              <a:t>Innovations and Objectives and expected Outcomes </a:t>
            </a:r>
            <a:endParaRPr dirty="0"/>
          </a:p>
          <a:p>
            <a:pPr algn="l" indent="-342900" lvl="0" marL="3429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dirty="0" lang="en-US">
                <a:latin typeface="Calibri"/>
                <a:cs typeface="Calibri"/>
                <a:sym typeface="Calibri"/>
              </a:rPr>
              <a:t>Feasibility evaluation and Project Planning</a:t>
            </a:r>
            <a:endParaRPr dirty="0"/>
          </a:p>
          <a:p>
            <a:pPr algn="l" indent="-342900" lvl="0" marL="3429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b="0" cap="none" dirty="0" sz="1800" i="0" lang="en-US" strike="noStrike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dirty="0"/>
          </a:p>
          <a:p>
            <a:pPr algn="l" indent="-228600" lvl="0" marL="3429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b="0" cap="none" dirty="0" sz="1800" i="0" strike="noStrike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-228600" lvl="0" marL="3429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b="0" dirty="0" sz="1800" i="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8" name="Google Shape;703;p35"/>
          <p:cNvSpPr txBox="1"/>
          <p:nvPr/>
        </p:nvSpPr>
        <p:spPr>
          <a:xfrm>
            <a:off x="950912" y="6165850"/>
            <a:ext cx="10668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8659" name="Google Shape;704;p35"/>
          <p:cNvSpPr txBox="1"/>
          <p:nvPr/>
        </p:nvSpPr>
        <p:spPr>
          <a:xfrm>
            <a:off x="2895600" y="6103937"/>
            <a:ext cx="4876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8660" name="Google Shape;705;p35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710;p36"/>
          <p:cNvSpPr txBox="1">
            <a:spLocks noGrp="1"/>
          </p:cNvSpPr>
          <p:nvPr>
            <p:ph type="title"/>
          </p:nvPr>
        </p:nvSpPr>
        <p:spPr>
          <a:xfrm>
            <a:off x="1252278" y="168068"/>
            <a:ext cx="7048499" cy="4384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lvl="0">
              <a:buClr>
                <a:srgbClr val="1581AA"/>
              </a:buClr>
              <a:buSzPts val="3600"/>
            </a:pPr>
            <a:r>
              <a:rPr dirty="0" sz="2000" lang="en-US"/>
              <a:t>Problem Definition and Project Relevance</a:t>
            </a:r>
            <a:endParaRPr dirty="0" sz="2000"/>
          </a:p>
        </p:txBody>
      </p:sp>
      <p:sp>
        <p:nvSpPr>
          <p:cNvPr id="1048664" name="Google Shape;711;p36"/>
          <p:cNvSpPr txBox="1">
            <a:spLocks noGrp="1"/>
          </p:cNvSpPr>
          <p:nvPr>
            <p:ph type="body" idx="1"/>
          </p:nvPr>
        </p:nvSpPr>
        <p:spPr>
          <a:xfrm>
            <a:off x="332509" y="1752599"/>
            <a:ext cx="8271164" cy="453231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endParaRPr dirty="0" lang="en-US"/>
          </a:p>
          <a:p>
            <a:pPr algn="l" indent="-228600" lvl="0" marL="3429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b="0" dirty="0" sz="1800" i="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-228600" lvl="0" marL="3429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b="0" dirty="0" sz="1800" i="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5" name="Google Shape;712;p36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</a:p>
        </p:txBody>
      </p:sp>
      <p:sp>
        <p:nvSpPr>
          <p:cNvPr id="1048666" name="Google Shape;713;p36"/>
          <p:cNvSpPr txBox="1"/>
          <p:nvPr/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8667" name="Google Shape;714;p36"/>
          <p:cNvSpPr txBox="1"/>
          <p:nvPr/>
        </p:nvSpPr>
        <p:spPr>
          <a:xfrm>
            <a:off x="2819400" y="6156325"/>
            <a:ext cx="512921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8668" name="TextBox 1"/>
          <p:cNvSpPr txBox="1"/>
          <p:nvPr/>
        </p:nvSpPr>
        <p:spPr>
          <a:xfrm>
            <a:off x="1252278" y="573088"/>
            <a:ext cx="7084477" cy="5895340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/>
              <a:t>Existing Indian stock-market datasets mainly focus on normal trading periods and do not specifically capture portfolio behaviour during major macroeconomic stress events.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/>
              <a:t>There is no standardized dataset that provides sector-wise risk labels for different crisis periods in the Indian market.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/>
              <a:t>Portfolio risk measures such as Maximum Drawdown (MDD), Value at Risk (</a:t>
            </a:r>
            <a:r>
              <a:rPr dirty="0" sz="1600" lang="en-IN" err="1"/>
              <a:t>VaR</a:t>
            </a:r>
            <a:r>
              <a:rPr dirty="0" sz="1600" lang="en-IN"/>
              <a:t>), Sharpe ratio decline, and recovery time are rarely combined into a single </a:t>
            </a:r>
            <a:r>
              <a:rPr dirty="0" sz="1600" lang="en-IN" err="1"/>
              <a:t>labeled</a:t>
            </a:r>
            <a:r>
              <a:rPr dirty="0" sz="1600" lang="en-IN"/>
              <a:t> dataset.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/>
              <a:t>As a result, researchers lack a reliable benchmark for training and evaluating machine-learning models for crisis-period portfolio risk classification. </a:t>
            </a:r>
          </a:p>
          <a:p>
            <a:r>
              <a:rPr b="1" dirty="0" sz="2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endParaRPr b="1"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/>
              <a:t>A dedicated dataset is needed to </a:t>
            </a:r>
            <a:r>
              <a:rPr dirty="0" sz="1600" lang="en-IN" err="1"/>
              <a:t>analyze</a:t>
            </a:r>
            <a:r>
              <a:rPr dirty="0" sz="1600" lang="en-IN"/>
              <a:t> how different NSE sectors respond to major macroeconomic stress events.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/>
              <a:t>The dataset should cover multiple crisis windows such as COVID-19, Russia-Ukraine conflict, RBI rate hikes, and US Fed tightening.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/>
              <a:t>It should combine key portfolio risk metrics—MDD, </a:t>
            </a:r>
            <a:r>
              <a:rPr dirty="0" sz="1600" lang="en-IN" err="1"/>
              <a:t>VaR</a:t>
            </a:r>
            <a:r>
              <a:rPr dirty="0" sz="1600" lang="en-IN"/>
              <a:t> (95%), recovery days, and Sharpe ratio drop—into a structured dataset.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/>
              <a:t>A High / Medium / Low risk classification can then provide standardized labels for comparing sector resilience and building future risk-prediction models.</a:t>
            </a:r>
          </a:p>
          <a:p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1356627" y="729041"/>
            <a:ext cx="1442576" cy="322668"/>
          </a:xfrm>
        </p:spPr>
        <p:txBody>
          <a:bodyPr/>
          <a:p>
            <a:r>
              <a:rPr b="1"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Relevance</a:t>
            </a:r>
            <a:endParaRPr dirty="0" sz="2000" lang="en-IN"/>
          </a:p>
        </p:txBody>
      </p:sp>
      <p:sp>
        <p:nvSpPr>
          <p:cNvPr id="1048672" name="Text Placeholder 2"/>
          <p:cNvSpPr>
            <a:spLocks noGrp="1"/>
          </p:cNvSpPr>
          <p:nvPr>
            <p:ph type="body" idx="1"/>
          </p:nvPr>
        </p:nvSpPr>
        <p:spPr>
          <a:xfrm>
            <a:off x="1356627" y="1204210"/>
            <a:ext cx="6591985" cy="1494020"/>
          </a:xfrm>
        </p:spPr>
        <p:txBody>
          <a:bodyPr/>
          <a:p>
            <a:pPr indent="0" marL="114300">
              <a:buNone/>
            </a:pPr>
            <a:r>
              <a:rPr dirty="0" sz="1600" lang="en-IN"/>
              <a:t>The project provides a structured and reproducible benchmark for analysing sector-level portfolio risk during macroeconomic stress events, enabling meaningful comparison of sector resilience and supporting future machine-learning-based risk classification.</a:t>
            </a:r>
            <a:endParaRPr b="1" dirty="0" sz="1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3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719;p37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fontScale="90000"/>
          </a:bodyPr>
          <a:p>
            <a:pPr lvl="0">
              <a:buClr>
                <a:srgbClr val="1581AA"/>
              </a:buClr>
              <a:buSzPts val="3200"/>
            </a:pPr>
            <a:r>
              <a:rPr b="1" dirty="0" sz="3200" lang="en-US">
                <a:latin typeface="Calibri"/>
                <a:ea typeface="Calibri"/>
                <a:cs typeface="Calibri"/>
                <a:sym typeface="Calibri"/>
              </a:rPr>
              <a:t>Literature Review</a:t>
            </a:r>
            <a:br>
              <a:rPr b="1" dirty="0" sz="3200" i="0" lang="en-US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1048675" name="Google Shape;721;p37"/>
          <p:cNvSpPr txBox="1"/>
          <p:nvPr/>
        </p:nvSpPr>
        <p:spPr>
          <a:xfrm>
            <a:off x="8243887" y="6156325"/>
            <a:ext cx="5857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fld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</a:p>
        </p:txBody>
      </p:sp>
      <p:sp>
        <p:nvSpPr>
          <p:cNvPr id="1048676" name="Google Shape;722;p37"/>
          <p:cNvSpPr txBox="1"/>
          <p:nvPr/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8677" name="Google Shape;723;p37"/>
          <p:cNvSpPr txBox="1"/>
          <p:nvPr/>
        </p:nvSpPr>
        <p:spPr>
          <a:xfrm>
            <a:off x="2819400" y="6156325"/>
            <a:ext cx="5257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graphicFrame>
        <p:nvGraphicFramePr>
          <p:cNvPr id="4194304" name="Table 1"/>
          <p:cNvGraphicFramePr>
            <a:graphicFrameLocks noGrp="1"/>
          </p:cNvGraphicFramePr>
          <p:nvPr/>
        </p:nvGraphicFramePr>
        <p:xfrm>
          <a:off x="1199356" y="1140583"/>
          <a:ext cx="7543800" cy="4972879"/>
        </p:xfrm>
        <a:graphic>
          <a:graphicData uri="http://schemas.openxmlformats.org/drawingml/2006/table">
            <a:tbl>
              <a:tblPr/>
              <a:tblGrid>
                <a:gridCol w="1685925"/>
                <a:gridCol w="1104900"/>
                <a:gridCol w="2362200"/>
                <a:gridCol w="2390775"/>
              </a:tblGrid>
              <a:tr h="128682">
                <a:tc>
                  <a:txBody>
                    <a:bodyPr/>
                    <a:p>
                      <a:pPr>
                        <a:buNone/>
                      </a:pPr>
                      <a:r>
                        <a:rPr sz="1200" lang="en-IN"/>
                        <a:t>Study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200" lang="en-IN"/>
                        <a:t>Focus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200" lang="en-IN"/>
                        <a:t>Key Contribution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1200" lang="en-IN"/>
                        <a:t>Limitation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9379">
                <a:tc>
                  <a:txBody>
                    <a:bodyPr/>
                    <a:p>
                      <a:pPr>
                        <a:buNone/>
                      </a:pPr>
                      <a:r>
                        <a:rPr b="1" sz="1200" lang="en-IN"/>
                        <a:t>Dynamic Market Risk and Portfolio Choice – Indian Stock Market (2023)</a:t>
                      </a:r>
                      <a:endParaRPr sz="1200" lang="en-IN"/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1200" lang="en-IN"/>
                        <a:t>Sectoral market risk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0" dirty="0" sz="1200" lang="en-IN"/>
                        <a:t>Analysed 10 Indian sectoral indices under different volatility regimes and market-stress conditions. (</a:t>
                      </a:r>
                      <a:r>
                        <a:rPr b="0" dirty="0" sz="1200" lang="en-IN">
                          <a:hlinkClick r:id="rId1" tooltip="DYNAMIC MARKET RISK AND PORTFOLIO CHOICE: EVIDENCE FROM INDIAN STOCK MARKET | IIMB Management Review"/>
                        </a:rPr>
                        <a:t>Indian Institute of Management Bangalore</a:t>
                      </a:r>
                      <a:r>
                        <a:rPr b="0" dirty="0" sz="1200" lang="en-IN"/>
                        <a:t>)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200" lang="en-IN"/>
                        <a:t>Focuses on dynamic market risk and portfolio construction, not a crisis-specific labeled dataset.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9224">
                <a:tc>
                  <a:txBody>
                    <a:bodyPr/>
                    <a:p>
                      <a:pPr>
                        <a:buNone/>
                      </a:pPr>
                      <a:r>
                        <a:rPr b="1" dirty="0" sz="1200" lang="en-IN"/>
                        <a:t>Sector-Wise Portfolio Risk Assessment – NIFTY 50 Stocks (2025)</a:t>
                      </a:r>
                      <a:endParaRPr dirty="0" sz="1200" lang="en-IN"/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200" lang="en-IN"/>
                        <a:t>Sector-level portfolio risk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0" dirty="0" sz="1200" lang="en-IN"/>
                        <a:t>Evaluates sectors using </a:t>
                      </a:r>
                      <a:r>
                        <a:rPr b="0" dirty="0" sz="1200" lang="en-IN" err="1"/>
                        <a:t>VaR</a:t>
                      </a:r>
                      <a:r>
                        <a:rPr b="0" dirty="0" sz="1200" lang="en-IN"/>
                        <a:t>, CVaR and Maximum Drawdown, showing differences in risk across sectors. (</a:t>
                      </a:r>
                      <a:r>
                        <a:rPr b="0" dirty="0" sz="1200" lang="en-IN">
                          <a:hlinkClick r:id="rId2" tooltip="(PDF) Sector-Wise Portfolio Risk Assessment: Monte Carlo Simulation of NIFTY 50 Stocks"/>
                        </a:rPr>
                        <a:t>ResearchGate</a:t>
                      </a:r>
                      <a:r>
                        <a:rPr b="0" dirty="0" sz="1200" lang="en-IN"/>
                        <a:t>)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0" dirty="0" sz="1200" lang="en-IN"/>
                        <a:t>Does not create a standardized sector × stress-event risk-label dataset.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534">
                <a:tc>
                  <a:txBody>
                    <a:bodyPr/>
                    <a:p>
                      <a:pPr>
                        <a:buNone/>
                      </a:pPr>
                      <a:r>
                        <a:rPr b="1" sz="1200" lang="en-IN"/>
                        <a:t>Prediction-based Mean-VaR Portfolio Optimization (2023)</a:t>
                      </a:r>
                      <a:endParaRPr sz="1200" lang="en-IN"/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200" lang="en-IN"/>
                        <a:t>ML + portfolio risk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0" dirty="0" sz="1200" lang="en-IN"/>
                        <a:t>Combines ML models including Random Forest, </a:t>
                      </a:r>
                      <a:r>
                        <a:rPr b="0" dirty="0" sz="1200" lang="en-IN" err="1"/>
                        <a:t>XGBoost</a:t>
                      </a:r>
                      <a:r>
                        <a:rPr b="0" dirty="0" sz="1200" lang="en-IN"/>
                        <a:t> and AdaBoost with Mean-</a:t>
                      </a:r>
                      <a:r>
                        <a:rPr b="0" dirty="0" sz="1200" lang="en-IN" err="1"/>
                        <a:t>VaR</a:t>
                      </a:r>
                      <a:r>
                        <a:rPr b="0" dirty="0" sz="1200" lang="en-IN"/>
                        <a:t> portfolio optimization using international market data including India. (</a:t>
                      </a:r>
                      <a:r>
                        <a:rPr b="0" dirty="0" sz="1200" lang="en-IN">
                          <a:hlinkClick r:id="rId3" tooltip="Prediction based mean-value-at-risk portfolio optimization using machine learning regression algorithms for multi-national stock markets - ScienceDirect"/>
                        </a:rPr>
                        <a:t>ScienceDirect</a:t>
                      </a:r>
                      <a:r>
                        <a:rPr b="0" dirty="0" sz="1200" lang="en-IN"/>
                        <a:t>)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200" lang="en-IN"/>
                        <a:t>Focuses on portfolio selection and return prediction rather than crisis-period risk labeling.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9379">
                <a:tc>
                  <a:txBody>
                    <a:bodyPr/>
                    <a:p>
                      <a:pPr>
                        <a:buNone/>
                      </a:pPr>
                      <a:r>
                        <a:rPr b="1" dirty="0" sz="1200" lang="en-IN"/>
                        <a:t>Financial Risk Identification using Random Forest (2025/26)</a:t>
                      </a:r>
                      <a:endParaRPr dirty="0" sz="1200" lang="en-IN"/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200" lang="en-IN"/>
                        <a:t>ML-based risk classification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0" dirty="0" sz="1200" lang="en-IN"/>
                        <a:t>Demonstrates Random Forest for low/medium/high financial-risk classification and highlights its ability to handle nonlinear financial data. (</a:t>
                      </a:r>
                      <a:r>
                        <a:rPr b="0" dirty="0" sz="1200" lang="en-IN">
                          <a:hlinkClick r:id="rId4" tooltip="Financial risk identification and prevention system based on random forest algorithm | Discover Artificial Intelligence | Springer Nature Link"/>
                        </a:rPr>
                        <a:t>Springer</a:t>
                      </a:r>
                      <a:r>
                        <a:rPr b="0" dirty="0" sz="1200" lang="en-IN"/>
                        <a:t>)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1200" lang="en-IN"/>
                        <a:t>Focuses on corporate financial risk rather than sector-level market drawdowns.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9379">
                <a:tc>
                  <a:txBody>
                    <a:bodyPr/>
                    <a:p>
                      <a:pPr>
                        <a:buNone/>
                      </a:pPr>
                      <a:r>
                        <a:rPr b="1" dirty="0" sz="1200" lang="en-IN"/>
                        <a:t>Guru &amp; Das (2021)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1200" lang="en-IN"/>
                        <a:t>COVID-19 &amp; sectoral volatility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0" dirty="0" sz="1200" lang="en-IN"/>
                        <a:t>Studied volatility spillovers across 10 major BSE sector indices and found that COVID-19 significantly increased market volatility</a:t>
                      </a:r>
                      <a:r>
                        <a:rPr dirty="0" sz="1200" lang="en-IN"/>
                        <a:t>.</a:t>
                      </a:r>
                      <a:endParaRPr b="0" dirty="0" sz="1200" lang="en-IN"/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sz="1200" lang="en-IN"/>
                        <a:t>Focuses on volatility spillovers, not portfolio drawdown or risk labels.</a:t>
                      </a:r>
                    </a:p>
                  </a:txBody>
                  <a:tcPr marL="38605" marR="38605" marT="19302" marB="1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>
          <a:xfrm>
            <a:off x="1405556" y="784284"/>
            <a:ext cx="1667429" cy="470172"/>
          </a:xfrm>
        </p:spPr>
        <p:txBody>
          <a:bodyPr/>
          <a:p>
            <a:r>
              <a:rPr b="1" dirty="0" sz="2000" lang="en-US"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dirty="0" sz="2000" lang="en-IN"/>
          </a:p>
        </p:txBody>
      </p:sp>
      <p:sp>
        <p:nvSpPr>
          <p:cNvPr id="1048681" name="Text Placeholder 2"/>
          <p:cNvSpPr>
            <a:spLocks noGrp="1"/>
          </p:cNvSpPr>
          <p:nvPr>
            <p:ph type="body" idx="1"/>
          </p:nvPr>
        </p:nvSpPr>
        <p:spPr>
          <a:xfrm>
            <a:off x="1276007" y="1181864"/>
            <a:ext cx="6591985" cy="3777622"/>
          </a:xfrm>
        </p:spPr>
        <p:txBody>
          <a:bodyPr/>
          <a:p>
            <a:pPr indent="0" marL="114300">
              <a:buNone/>
            </a:pPr>
            <a:r>
              <a:rPr dirty="0" lang="en-IN"/>
              <a:t>• Existing Indian market datasets (BSE/NSE OHLCV on Kaggle, Mendeley) cover normal trading — none isolate crisis windows. </a:t>
            </a:r>
          </a:p>
          <a:p>
            <a:pPr indent="0" marL="114300">
              <a:buNone/>
            </a:pPr>
            <a:r>
              <a:rPr dirty="0" lang="en-IN"/>
              <a:t>• Portfolio risk models trained on normal-period data fail during stress events because crisis behaviour is structurally different. </a:t>
            </a:r>
          </a:p>
          <a:p>
            <a:pPr indent="0" marL="114300">
              <a:buNone/>
            </a:pPr>
            <a:r>
              <a:rPr dirty="0" lang="en-IN"/>
              <a:t>• No dataset provides a sector x stress-event risk label matrix for NSE — forcing researchers to build it from scratch each time. </a:t>
            </a:r>
          </a:p>
          <a:p>
            <a:pPr indent="0" marL="114300">
              <a:buNone/>
            </a:pPr>
            <a:r>
              <a:rPr dirty="0" lang="en-IN"/>
              <a:t>• MDD, </a:t>
            </a:r>
            <a:r>
              <a:rPr dirty="0" lang="en-IN" err="1"/>
              <a:t>VaR</a:t>
            </a:r>
            <a:r>
              <a:rPr dirty="0" lang="en-IN"/>
              <a:t>, and recovery time are rarely combined in a single </a:t>
            </a:r>
            <a:r>
              <a:rPr dirty="0" lang="en-IN" err="1"/>
              <a:t>labeled</a:t>
            </a:r>
            <a:r>
              <a:rPr dirty="0" lang="en-IN"/>
              <a:t> dataset for Indian emerging market sectors.</a:t>
            </a:r>
          </a:p>
        </p:txBody>
      </p:sp>
      <p:sp>
        <p:nvSpPr>
          <p:cNvPr id="1048682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Google Shape;728;p38"/>
          <p:cNvSpPr txBox="1">
            <a:spLocks noGrp="1"/>
          </p:cNvSpPr>
          <p:nvPr>
            <p:ph type="title"/>
          </p:nvPr>
        </p:nvSpPr>
        <p:spPr>
          <a:xfrm>
            <a:off x="1651104" y="236537"/>
            <a:ext cx="3270354" cy="46123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lvl="0">
              <a:buClr>
                <a:srgbClr val="1581AA"/>
              </a:buClr>
              <a:buSzPts val="3600"/>
            </a:pPr>
            <a:r>
              <a:rPr dirty="0" sz="2000" lang="en-US"/>
              <a:t>Proposed Methodology</a:t>
            </a:r>
            <a:endParaRPr dirty="0" sz="2000"/>
          </a:p>
        </p:txBody>
      </p:sp>
      <p:sp>
        <p:nvSpPr>
          <p:cNvPr id="1048684" name="Google Shape;729;p38"/>
          <p:cNvSpPr txBox="1">
            <a:spLocks noGrp="1"/>
          </p:cNvSpPr>
          <p:nvPr>
            <p:ph type="body" idx="1"/>
          </p:nvPr>
        </p:nvSpPr>
        <p:spPr>
          <a:xfrm>
            <a:off x="1456232" y="797784"/>
            <a:ext cx="7492896" cy="582367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114300">
              <a:buNone/>
            </a:pPr>
            <a:r>
              <a:rPr b="1" dirty="0" sz="1600" lang="en-IN"/>
              <a:t>1. Collect Market Data</a:t>
            </a:r>
          </a:p>
          <a:p>
            <a:pPr indent="0" lvl="0" marL="114300">
              <a:buNone/>
            </a:pPr>
            <a:r>
              <a:rPr dirty="0" sz="1600" lang="en-IN"/>
              <a:t>Collect daily OHLCV data for 11 NSE sectors using </a:t>
            </a:r>
            <a:r>
              <a:rPr dirty="0" sz="1600" lang="en-IN" err="1"/>
              <a:t>yfinance</a:t>
            </a:r>
            <a:r>
              <a:rPr dirty="0" sz="1600" lang="en-IN"/>
              <a:t>. </a:t>
            </a:r>
          </a:p>
          <a:p>
            <a:pPr indent="0" lvl="0" marL="114300">
              <a:buNone/>
            </a:pPr>
            <a:r>
              <a:rPr dirty="0" sz="1600" lang="en-IN"/>
              <a:t>Define the 4 major stress periods: COVID-19, Russia-Ukraine, RBI Rate Hikes, and US Fed Tightening. </a:t>
            </a:r>
          </a:p>
          <a:p>
            <a:pPr indent="0" marL="114300">
              <a:buNone/>
            </a:pPr>
            <a:r>
              <a:rPr b="1" dirty="0" sz="1600" lang="en-IN"/>
              <a:t>2. Calculate Risk Metrics</a:t>
            </a:r>
          </a:p>
          <a:p>
            <a:pPr indent="0" lvl="0" marL="114300">
              <a:buNone/>
            </a:pPr>
            <a:r>
              <a:rPr dirty="0" sz="1600" lang="en-IN"/>
              <a:t>Calculate Maximum Drawdown (MDD), </a:t>
            </a:r>
            <a:r>
              <a:rPr dirty="0" sz="1600" lang="en-IN" err="1"/>
              <a:t>VaR</a:t>
            </a:r>
            <a:r>
              <a:rPr dirty="0" sz="1600" lang="en-IN"/>
              <a:t> (95%), Recovery Days, and Sharpe Ratio Drop for each sector during each stress period. </a:t>
            </a:r>
          </a:p>
          <a:p>
            <a:pPr indent="0" marL="114300">
              <a:buNone/>
            </a:pPr>
            <a:r>
              <a:rPr b="1" dirty="0" sz="1600" lang="en-IN"/>
              <a:t>3. Assign Risk Labels</a:t>
            </a:r>
          </a:p>
          <a:p>
            <a:pPr indent="0" lvl="0" marL="114300">
              <a:buNone/>
            </a:pPr>
            <a:r>
              <a:rPr dirty="0" sz="1600" lang="en-IN"/>
              <a:t>Based mainly on MDD, classify each sector-event combination as: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 lang="en-IN"/>
              <a:t>High Risk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 lang="en-IN"/>
              <a:t>Medium Risk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 lang="en-IN"/>
              <a:t>Low Risk </a:t>
            </a:r>
          </a:p>
          <a:p>
            <a:pPr indent="0" marL="114300">
              <a:buNone/>
            </a:pPr>
            <a:r>
              <a:rPr b="1" dirty="0" sz="1600" lang="en-IN"/>
              <a:t>4. Build &amp; Validate Dataset</a:t>
            </a:r>
          </a:p>
          <a:p>
            <a:pPr indent="0" lvl="0" marL="114300">
              <a:buNone/>
            </a:pPr>
            <a:r>
              <a:rPr dirty="0" sz="1600" lang="en-IN"/>
              <a:t>Create the final 44-record dataset (11 sectors × 4 stress events). </a:t>
            </a:r>
          </a:p>
          <a:p>
            <a:pPr indent="0" lvl="0" marL="114300">
              <a:buNone/>
            </a:pPr>
            <a:r>
              <a:rPr dirty="0" sz="1600" lang="en-IN"/>
              <a:t>Train a Random Forest classifier as a baseline and evaluate its performance.</a:t>
            </a:r>
          </a:p>
          <a:p>
            <a:pPr algn="l" indent="-228600" lvl="0" marL="3429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b="0" dirty="0" sz="1600" i="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-228600" lvl="0" marL="342900" marR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b="0" dirty="0" sz="1600" i="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5" name="Google Shape;730;p38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fld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</a:p>
        </p:txBody>
      </p:sp>
      <p:sp>
        <p:nvSpPr>
          <p:cNvPr id="1048686" name="Google Shape;731;p38"/>
          <p:cNvSpPr txBox="1"/>
          <p:nvPr/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8687" name="Google Shape;732;p38"/>
          <p:cNvSpPr txBox="1"/>
          <p:nvPr/>
        </p:nvSpPr>
        <p:spPr>
          <a:xfrm>
            <a:off x="2819400" y="6156325"/>
            <a:ext cx="512921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>
          <a:xfrm>
            <a:off x="1495496" y="579139"/>
            <a:ext cx="2821671" cy="560113"/>
          </a:xfrm>
        </p:spPr>
        <p:txBody>
          <a:bodyPr/>
          <a:p>
            <a:r>
              <a:rPr dirty="0" sz="2000" lang="en-IN"/>
              <a:t>System Architecture</a:t>
            </a:r>
          </a:p>
        </p:txBody>
      </p:sp>
      <p:sp>
        <p:nvSpPr>
          <p:cNvPr id="1048691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  <p:pic>
        <p:nvPicPr>
          <p:cNvPr id="2097153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51543" y="1256671"/>
            <a:ext cx="7873356" cy="5248904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ext Placeholder 2"/>
          <p:cNvSpPr>
            <a:spLocks noGrp="1"/>
          </p:cNvSpPr>
          <p:nvPr>
            <p:ph type="body" idx="1"/>
          </p:nvPr>
        </p:nvSpPr>
        <p:spPr>
          <a:xfrm>
            <a:off x="1417759" y="684430"/>
            <a:ext cx="7456418" cy="4517158"/>
          </a:xfrm>
        </p:spPr>
        <p:txBody>
          <a:bodyPr/>
          <a:p>
            <a:pPr indent="0" marL="114300">
              <a:buNone/>
            </a:pPr>
            <a:r>
              <a:rPr b="1" dirty="0" sz="2400" lang="en-IN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</a:t>
            </a:r>
          </a:p>
          <a:p>
            <a:pPr indent="0" marL="114300">
              <a:buNone/>
            </a:pPr>
            <a:r>
              <a:rPr b="1" dirty="0" lang="en-IN"/>
              <a:t>Data Collection &amp; Preprocessing</a:t>
            </a:r>
            <a:r>
              <a:rPr dirty="0" lang="en-IN"/>
              <a:t> – Collect daily OHLCV data for 11 NSE sectors and calculate sector-level returns.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lang="en-IN"/>
              <a:t>Stress-Period Analysis</a:t>
            </a:r>
            <a:r>
              <a:rPr dirty="0" lang="en-IN"/>
              <a:t> – Identify and validate 4 major macroeconomic stress windows.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lang="en-IN"/>
              <a:t>Risk Metric Calculation</a:t>
            </a:r>
            <a:r>
              <a:rPr dirty="0" lang="en-IN"/>
              <a:t> – Calculate </a:t>
            </a:r>
            <a:r>
              <a:rPr b="1" dirty="0" lang="en-IN"/>
              <a:t>MDD, </a:t>
            </a:r>
            <a:r>
              <a:rPr b="1" dirty="0" lang="en-IN" err="1"/>
              <a:t>VaR</a:t>
            </a:r>
            <a:r>
              <a:rPr b="1" dirty="0" lang="en-IN"/>
              <a:t> (95%), Recovery Days, and Sharpe Ratio Drop</a:t>
            </a:r>
            <a:r>
              <a:rPr dirty="0" lang="en-IN"/>
              <a:t> for each sector-event combination.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lang="en-IN"/>
              <a:t>Risk Classification</a:t>
            </a:r>
            <a:r>
              <a:rPr dirty="0" lang="en-IN"/>
              <a:t> – Assign </a:t>
            </a:r>
            <a:r>
              <a:rPr b="1" dirty="0" lang="en-IN"/>
              <a:t>High, Medium, or Low</a:t>
            </a:r>
            <a:r>
              <a:rPr dirty="0" lang="en-IN"/>
              <a:t> risk based on MDD thresholds.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lang="en-IN"/>
              <a:t>ML Baseline</a:t>
            </a:r>
            <a:r>
              <a:rPr dirty="0" lang="en-IN"/>
              <a:t> – Use a </a:t>
            </a:r>
            <a:r>
              <a:rPr b="1" dirty="0" lang="en-IN"/>
              <a:t>Random Forest classifier</a:t>
            </a:r>
            <a:r>
              <a:rPr dirty="0" lang="en-IN"/>
              <a:t> to establish a baseline for risk prediction.</a:t>
            </a:r>
            <a:endParaRPr dirty="0"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48693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ext Placeholder 2"/>
          <p:cNvSpPr>
            <a:spLocks noGrp="1"/>
          </p:cNvSpPr>
          <p:nvPr>
            <p:ph type="body" idx="1"/>
          </p:nvPr>
        </p:nvSpPr>
        <p:spPr>
          <a:xfrm>
            <a:off x="1744770" y="679554"/>
            <a:ext cx="6591985" cy="5016708"/>
          </a:xfrm>
        </p:spPr>
        <p:txBody>
          <a:bodyPr/>
          <a:p>
            <a:pPr indent="0" marL="114300">
              <a:buNone/>
            </a:pPr>
            <a:r>
              <a:rPr b="1" dirty="0" sz="2400" lang="en-IN"/>
              <a:t>Technologies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sz="1600" lang="en-IN"/>
              <a:t>Python</a:t>
            </a:r>
            <a:r>
              <a:rPr dirty="0" sz="1600" lang="en-IN"/>
              <a:t> – Main programming language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sz="1600" lang="en-IN"/>
              <a:t>Pandas &amp; NumPy</a:t>
            </a:r>
            <a:r>
              <a:rPr dirty="0" sz="1600" lang="en-IN"/>
              <a:t> – Data processing and numerical calculations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sz="1600" lang="en-IN" err="1"/>
              <a:t>yfinance</a:t>
            </a:r>
            <a:r>
              <a:rPr dirty="0" sz="1600" lang="en-IN"/>
              <a:t> – Market OHLCV data collection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sz="1600" lang="en-IN"/>
              <a:t>SciPy</a:t>
            </a:r>
            <a:r>
              <a:rPr dirty="0" sz="1600" lang="en-IN"/>
              <a:t> – Statistical calculations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sz="1600" lang="en-IN"/>
              <a:t>Scikit-learn</a:t>
            </a:r>
            <a:r>
              <a:rPr dirty="0" sz="1600" lang="en-IN"/>
              <a:t> – Random Forest classification and evaluation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sz="1600" lang="en-IN"/>
              <a:t>Excel / GitHub / </a:t>
            </a:r>
            <a:r>
              <a:rPr b="1" dirty="0" sz="1600" lang="en-IN" err="1"/>
              <a:t>Zenodo</a:t>
            </a:r>
            <a:r>
              <a:rPr dirty="0" sz="1600" lang="en-IN"/>
              <a:t> – Validation, code sharing and dataset release </a:t>
            </a:r>
          </a:p>
        </p:txBody>
      </p:sp>
      <p:sp>
        <p:nvSpPr>
          <p:cNvPr id="1048695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  <p:graphicFrame>
        <p:nvGraphicFramePr>
          <p:cNvPr id="4194305" name="Table 4"/>
          <p:cNvGraphicFramePr>
            <a:graphicFrameLocks noGrp="1"/>
          </p:cNvGraphicFramePr>
          <p:nvPr/>
        </p:nvGraphicFramePr>
        <p:xfrm>
          <a:off x="1359694" y="826677"/>
          <a:ext cx="7365204" cy="5577840"/>
        </p:xfrm>
        <a:graphic>
          <a:graphicData uri="http://schemas.openxmlformats.org/drawingml/2006/table">
            <a:tbl>
              <a:tblPr firstRow="1" bandRow="1">
                <a:tableStyleId>{2B881FAD-07A5-42EF-9D34-E71FABE4D0F1}</a:tableStyleId>
              </a:tblPr>
              <a:tblGrid>
                <a:gridCol w="1218614"/>
                <a:gridCol w="2158584"/>
                <a:gridCol w="3988006"/>
              </a:tblGrid>
              <a:tr h="445670"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dirty="0" lang="en-IN"/>
                        <a:t>Phase</a:t>
                      </a:r>
                    </a:p>
                    <a:p>
                      <a:endParaRPr dirty="0" lang="en-IN"/>
                    </a:p>
                  </a:txBody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dirty="0" lang="en-IN"/>
                        <a:t>Focus</a:t>
                      </a:r>
                    </a:p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dirty="0" lang="en-IN"/>
                    </a:p>
                  </a:txBody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dirty="0" lang="en-IN"/>
                        <a:t>Key Activities</a:t>
                      </a:r>
                    </a:p>
                  </a:txBody>
                </a:tc>
              </a:tr>
              <a:tr h="977944"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dirty="0" lang="en-IN"/>
                        <a:t>Phase 1</a:t>
                      </a:r>
                    </a:p>
                  </a:txBody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dirty="0" lang="en-IN"/>
                        <a:t>Data Collection</a:t>
                      </a:r>
                    </a:p>
                  </a:txBody>
                </a:tc>
                <a:tc>
                  <a:txBody>
                    <a:bodyPr/>
                    <a:p>
                      <a:pPr lvl="0"/>
                      <a:r>
                        <a:rPr b="0" dirty="0" lang="en-IN"/>
                        <a:t>Define and validate the 4 macroeconomic stress windows. </a:t>
                      </a:r>
                    </a:p>
                    <a:p>
                      <a:pPr lvl="0"/>
                      <a:r>
                        <a:rPr b="0" dirty="0" lang="en-IN"/>
                        <a:t>Collect daily OHLCV data for the 11 NSE sectors. </a:t>
                      </a:r>
                    </a:p>
                    <a:p>
                      <a:pPr lvl="0"/>
                      <a:r>
                        <a:rPr b="0" dirty="0" lang="en-IN"/>
                        <a:t>Calculate sector-level portfolio returns.</a:t>
                      </a:r>
                    </a:p>
                  </a:txBody>
                </a:tc>
              </a:tr>
              <a:tr h="656505">
                <a:tc>
                  <a:txBody>
                    <a:bodyPr/>
                    <a:p>
                      <a:r>
                        <a:rPr dirty="0" lang="en-IN"/>
                        <a:t>Phase 2 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IN"/>
                        <a:t>Risk Analysis</a:t>
                      </a:r>
                    </a:p>
                  </a:txBody>
                </a:tc>
                <a:tc>
                  <a:txBody>
                    <a:bodyPr/>
                    <a:p>
                      <a:pPr lvl="0"/>
                      <a:r>
                        <a:rPr b="0" dirty="0" lang="en-IN"/>
                        <a:t>Calculate Maximum Drawdown (MDD). </a:t>
                      </a:r>
                    </a:p>
                    <a:p>
                      <a:pPr lvl="0"/>
                      <a:r>
                        <a:rPr b="0" dirty="0" lang="en-IN"/>
                        <a:t>Calculate </a:t>
                      </a:r>
                      <a:r>
                        <a:rPr b="0" dirty="0" lang="en-IN" err="1"/>
                        <a:t>VaR</a:t>
                      </a:r>
                      <a:r>
                        <a:rPr b="0" dirty="0" lang="en-IN"/>
                        <a:t> (95%), Recovery Days, and Sharpe Ratio Drop. </a:t>
                      </a:r>
                    </a:p>
                    <a:p>
                      <a:pPr lvl="0"/>
                      <a:r>
                        <a:rPr b="0" dirty="0" lang="en-IN"/>
                        <a:t>Validate the calculated metrics against available market data.</a:t>
                      </a:r>
                    </a:p>
                  </a:txBody>
                </a:tc>
              </a:tr>
              <a:tr h="1049686">
                <a:tc>
                  <a:txBody>
                    <a:bodyPr/>
                    <a:p>
                      <a:r>
                        <a:rPr dirty="0" lang="en-IN"/>
                        <a:t>Phase 3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IN"/>
                        <a:t>Dataset &amp; ML Model</a:t>
                      </a:r>
                    </a:p>
                  </a:txBody>
                </a:tc>
                <a:tc>
                  <a:txBody>
                    <a:bodyPr/>
                    <a:p>
                      <a:pPr lvl="0"/>
                      <a:r>
                        <a:rPr b="0" dirty="0" lang="en-IN"/>
                        <a:t>Assign High / Medium / Low risk labels using MDD thresholds. </a:t>
                      </a:r>
                    </a:p>
                    <a:p>
                      <a:pPr lvl="0"/>
                      <a:r>
                        <a:rPr b="0" dirty="0" lang="en-IN"/>
                        <a:t>Generate the NiftyStress-44 dataset with 44 sector-event records. </a:t>
                      </a:r>
                    </a:p>
                    <a:p>
                      <a:pPr lvl="0"/>
                      <a:r>
                        <a:rPr b="0" dirty="0" lang="en-IN"/>
                        <a:t>Train and evaluate the Random Forest baseline classifier. </a:t>
                      </a:r>
                    </a:p>
                  </a:txBody>
                </a:tc>
              </a:tr>
              <a:tr h="1049686">
                <a:tc>
                  <a:txBody>
                    <a:bodyPr/>
                    <a:p>
                      <a:r>
                        <a:rPr dirty="0" lang="en-IN"/>
                        <a:t>Phase 4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IN"/>
                        <a:t>Validation &amp; Release</a:t>
                      </a:r>
                    </a:p>
                  </a:txBody>
                </a:tc>
                <a:tc>
                  <a:txBody>
                    <a:bodyPr/>
                    <a:p>
                      <a:pPr lvl="0"/>
                      <a:r>
                        <a:rPr b="0" dirty="0" lang="en-IN"/>
                        <a:t>Perform domain validation and manual spot checks. </a:t>
                      </a:r>
                    </a:p>
                    <a:p>
                      <a:pPr lvl="0"/>
                      <a:r>
                        <a:rPr b="0" dirty="0" lang="en-IN"/>
                        <a:t>Prepare the data dictionary and final dataset files. </a:t>
                      </a:r>
                    </a:p>
                    <a:p>
                      <a:pPr lvl="0"/>
                      <a:r>
                        <a:rPr b="0" dirty="0" lang="en-IN"/>
                        <a:t>Document and publish the code and dataset for reproducibility.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48697" name="TextBox 6"/>
          <p:cNvSpPr txBox="1"/>
          <p:nvPr/>
        </p:nvSpPr>
        <p:spPr>
          <a:xfrm>
            <a:off x="1251678" y="299594"/>
            <a:ext cx="3140439" cy="400110"/>
          </a:xfrm>
          <a:prstGeom prst="rect"/>
          <a:noFill/>
        </p:spPr>
        <p:txBody>
          <a:bodyPr wrap="square">
            <a:spAutoFit/>
          </a:bodyPr>
          <a:p>
            <a:r>
              <a:rPr b="1" dirty="0" sz="2000" lang="en-IN"/>
              <a:t>Implementation 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Google Shape;737;p39"/>
          <p:cNvSpPr txBox="1">
            <a:spLocks noGrp="1"/>
          </p:cNvSpPr>
          <p:nvPr>
            <p:ph type="title"/>
          </p:nvPr>
        </p:nvSpPr>
        <p:spPr>
          <a:xfrm>
            <a:off x="1421567" y="149225"/>
            <a:ext cx="5848663" cy="3651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lvl="0">
              <a:buClr>
                <a:srgbClr val="1581AA"/>
              </a:buClr>
              <a:buSzPts val="2800"/>
            </a:pPr>
            <a:r>
              <a:rPr b="1" dirty="0" sz="2000" lang="en-US">
                <a:latin typeface="Calibri"/>
                <a:ea typeface="Calibri"/>
                <a:cs typeface="Calibri"/>
                <a:sym typeface="Calibri"/>
              </a:rPr>
              <a:t>Innovations and Objectives and expected Outcomes </a:t>
            </a:r>
            <a:br>
              <a:rPr b="1" dirty="0" sz="2000" i="0" lang="en-US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 sz="2000"/>
          </a:p>
        </p:txBody>
      </p:sp>
      <p:sp>
        <p:nvSpPr>
          <p:cNvPr id="1048699" name="Google Shape;738;p39"/>
          <p:cNvSpPr txBox="1">
            <a:spLocks noGrp="1"/>
          </p:cNvSpPr>
          <p:nvPr>
            <p:ph type="body" idx="1"/>
          </p:nvPr>
        </p:nvSpPr>
        <p:spPr>
          <a:xfrm>
            <a:off x="1421567" y="673308"/>
            <a:ext cx="6591300" cy="305924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114300">
              <a:buNone/>
            </a:pPr>
            <a:r>
              <a:rPr b="1" dirty="0" sz="2000" lang="en-IN"/>
              <a:t>Innovations/</a:t>
            </a:r>
            <a:r>
              <a:rPr b="1" dirty="0" sz="2000" lang="en-IN" err="1"/>
              <a:t>Novality</a:t>
            </a:r>
            <a:endParaRPr b="1" dirty="0" sz="2000" lang="en-IN"/>
          </a:p>
          <a:p>
            <a:pPr lvl="0">
              <a:buFont typeface="Wingdings" panose="05000000000000000000" pitchFamily="2" charset="2"/>
              <a:buChar char="§"/>
            </a:pPr>
            <a:r>
              <a:rPr dirty="0" sz="1600" lang="en-IN"/>
              <a:t>Crisis-focused dataset: Captures sector-level portfolio risk specifically during major macroeconomic stress events.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dirty="0" sz="1600" lang="en-IN"/>
              <a:t>Combined risk analysis: Integrates MDD, </a:t>
            </a:r>
            <a:r>
              <a:rPr dirty="0" sz="1600" lang="en-IN" err="1"/>
              <a:t>VaR</a:t>
            </a:r>
            <a:r>
              <a:rPr dirty="0" sz="1600" lang="en-IN"/>
              <a:t>, Recovery Days, and Sharpe Ratio Drop in one dataset.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dirty="0" sz="1600" lang="en-IN"/>
              <a:t>Standardized risk labels: Classifies sector-event combinations into High, Medium, and Low Risk.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dirty="0" sz="1600" lang="en-IN"/>
              <a:t>ML-ready benchmark: Provides a structured dataset for training and benchmarking portfolio risk classifiers. </a:t>
            </a:r>
          </a:p>
        </p:txBody>
      </p:sp>
      <p:sp>
        <p:nvSpPr>
          <p:cNvPr id="1048700" name="Google Shape;739;p39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fld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</a:p>
        </p:txBody>
      </p:sp>
      <p:sp>
        <p:nvSpPr>
          <p:cNvPr id="1048701" name="Google Shape;740;p39"/>
          <p:cNvSpPr txBox="1"/>
          <p:nvPr/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8702" name="Google Shape;741;p39"/>
          <p:cNvSpPr txBox="1"/>
          <p:nvPr/>
        </p:nvSpPr>
        <p:spPr>
          <a:xfrm>
            <a:off x="2819400" y="6156325"/>
            <a:ext cx="512921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8703" name="TextBox 2"/>
          <p:cNvSpPr txBox="1"/>
          <p:nvPr/>
        </p:nvSpPr>
        <p:spPr>
          <a:xfrm>
            <a:off x="1611443" y="3891509"/>
            <a:ext cx="6401424" cy="2369880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sz="2000" lang="en-IN"/>
              <a:t>Objectives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 err="1"/>
              <a:t>Analyze</a:t>
            </a:r>
            <a:r>
              <a:rPr dirty="0" sz="1600" lang="en-IN"/>
              <a:t> the risk behaviour of 11 NSE sectors across 4 macro stress events.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Calculate MDD, </a:t>
            </a:r>
            <a:r>
              <a:rPr dirty="0" sz="1600" lang="en-IN" err="1"/>
              <a:t>VaR</a:t>
            </a:r>
            <a:r>
              <a:rPr dirty="0" sz="1600" lang="en-IN"/>
              <a:t> (95%), Recovery Days, and Sharpe Ratio Drop.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Generate the NiftyStress-44 </a:t>
            </a:r>
            <a:r>
              <a:rPr dirty="0" sz="1600" lang="en-IN" err="1"/>
              <a:t>labeled</a:t>
            </a:r>
            <a:r>
              <a:rPr dirty="0" sz="1600" lang="en-IN"/>
              <a:t> dataset containing 44 sector-event records.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Develop a Random Forest baseline classifier for risk classification.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2426"/>
            <a:ext cx="6591985" cy="3365136"/>
          </a:xfrm>
        </p:spPr>
        <p:txBody>
          <a:bodyPr/>
          <a:p>
            <a:pPr indent="0" marL="114300">
              <a:buNone/>
            </a:pPr>
            <a:r>
              <a:rPr b="1" dirty="0" sz="2000" lang="en-IN"/>
              <a:t>Expected Outcomes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dirty="0" lang="en-IN"/>
              <a:t>A complete NiftyStress-44 dataset with sector-wise risk metrics and labels.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dirty="0" lang="en-IN"/>
              <a:t>An 11 × 4 risk-label matrix for comparing sectors across stress events.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dirty="0" lang="en-IN"/>
              <a:t>A validated baseline ML classification model with accuracy, precision and recall results.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dirty="0" lang="en-IN"/>
              <a:t>Reproducible dataset, documentation and source code for future research.</a:t>
            </a:r>
          </a:p>
        </p:txBody>
      </p:sp>
      <p:sp>
        <p:nvSpPr>
          <p:cNvPr id="1048707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Google Shape;746;p40"/>
          <p:cNvSpPr txBox="1">
            <a:spLocks noGrp="1"/>
          </p:cNvSpPr>
          <p:nvPr>
            <p:ph type="title"/>
          </p:nvPr>
        </p:nvSpPr>
        <p:spPr>
          <a:xfrm>
            <a:off x="1657350" y="513127"/>
            <a:ext cx="5039193" cy="73027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lvl="0">
              <a:buClr>
                <a:srgbClr val="1581AA"/>
              </a:buClr>
              <a:buSzPts val="3600"/>
            </a:pPr>
            <a:r>
              <a:rPr dirty="0" lang="en-US"/>
              <a:t>Feasibility evaluation</a:t>
            </a:r>
            <a:endParaRPr dirty="0"/>
          </a:p>
        </p:txBody>
      </p:sp>
      <p:sp>
        <p:nvSpPr>
          <p:cNvPr id="1048709" name="Google Shape;747;p40"/>
          <p:cNvSpPr txBox="1">
            <a:spLocks noGrp="1"/>
          </p:cNvSpPr>
          <p:nvPr>
            <p:ph type="body" idx="1"/>
          </p:nvPr>
        </p:nvSpPr>
        <p:spPr>
          <a:xfrm>
            <a:off x="1657350" y="1533480"/>
            <a:ext cx="6591300" cy="355013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lvl="0">
              <a:buFont typeface="Wingdings" panose="05000000000000000000" pitchFamily="2" charset="2"/>
              <a:buChar char="§"/>
            </a:pPr>
            <a:r>
              <a:rPr b="1" dirty="0" sz="1600" lang="en-IN"/>
              <a:t>Technical Feasibility:</a:t>
            </a:r>
            <a:r>
              <a:rPr dirty="0" sz="1600" lang="en-IN"/>
              <a:t> The project can be implemented using publicly available market data and standard Python libraries such as Pandas, NumPy, </a:t>
            </a:r>
            <a:r>
              <a:rPr dirty="0" sz="1600" lang="en-IN" err="1"/>
              <a:t>yfinance</a:t>
            </a:r>
            <a:r>
              <a:rPr dirty="0" sz="1600" lang="en-IN"/>
              <a:t>, SciPy, and Scikit-learn.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sz="1600" lang="en-IN"/>
              <a:t>Data Feasibility:</a:t>
            </a:r>
            <a:r>
              <a:rPr dirty="0" sz="1600" lang="en-IN"/>
              <a:t> Daily OHLCV data can be collected for the required 11 NSE sectors for the 2019–2024 period.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sz="1600" lang="en-IN"/>
              <a:t>Computational Feasibility:</a:t>
            </a:r>
            <a:r>
              <a:rPr dirty="0" sz="1600" lang="en-IN"/>
              <a:t> The proposed risk calculations and Random Forest model can be executed using conventional computing resources; no GPU is required.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 dirty="0" sz="1600" lang="en-IN"/>
              <a:t>Research Feasibility:</a:t>
            </a:r>
            <a:r>
              <a:rPr dirty="0" sz="1600" lang="en-IN"/>
              <a:t> The methodology uses reproducible calculations and publicly available data, making the dataset suitable for validation and future research. </a:t>
            </a:r>
          </a:p>
        </p:txBody>
      </p:sp>
      <p:sp>
        <p:nvSpPr>
          <p:cNvPr id="1048710" name="Google Shape;748;p40"/>
          <p:cNvSpPr txBox="1"/>
          <p:nvPr/>
        </p:nvSpPr>
        <p:spPr>
          <a:xfrm>
            <a:off x="1657350" y="6091237"/>
            <a:ext cx="1066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8711" name="Google Shape;749;p40"/>
          <p:cNvSpPr txBox="1"/>
          <p:nvPr/>
        </p:nvSpPr>
        <p:spPr>
          <a:xfrm>
            <a:off x="2895600" y="6103937"/>
            <a:ext cx="4876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</a:p>
        </p:txBody>
      </p:sp>
      <p:sp>
        <p:nvSpPr>
          <p:cNvPr id="1048712" name="Google Shape;751;p40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fld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1945202" y="624110"/>
            <a:ext cx="4140806" cy="605083"/>
          </a:xfrm>
        </p:spPr>
        <p:txBody>
          <a:bodyPr/>
          <a:p>
            <a:r>
              <a:rPr dirty="0" lang="en-US"/>
              <a:t>Project Planning</a:t>
            </a:r>
            <a:endParaRPr dirty="0" lang="en-IN"/>
          </a:p>
        </p:txBody>
      </p:sp>
      <p:sp>
        <p:nvSpPr>
          <p:cNvPr id="1048716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  <p:graphicFrame>
        <p:nvGraphicFramePr>
          <p:cNvPr id="4194306" name="Table 4"/>
          <p:cNvGraphicFramePr>
            <a:graphicFrameLocks noGrp="1"/>
          </p:cNvGraphicFramePr>
          <p:nvPr/>
        </p:nvGraphicFramePr>
        <p:xfrm>
          <a:off x="1357312" y="1577840"/>
          <a:ext cx="6591300" cy="3108960"/>
        </p:xfrm>
        <a:graphic>
          <a:graphicData uri="http://schemas.openxmlformats.org/drawingml/2006/table">
            <a:tbl>
              <a:tblPr/>
              <a:tblGrid>
                <a:gridCol w="2197100"/>
                <a:gridCol w="2197100"/>
                <a:gridCol w="2197100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dirty="0" lang="en-IN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Major 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Timeline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b="1" lang="en-IN"/>
                        <a:t>Phase 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Stress-window definition &amp; sector data collection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Week 1–2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b="1" lang="en-IN"/>
                        <a:t>Phase 2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MDD, VaR, Sharpe Drop &amp; Recovery Days calculation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Week 2–3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b="1" lang="en-IN"/>
                        <a:t>Phase 3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Risk labeling, dataset creation &amp;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Week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b="1" lang="en-IN"/>
                        <a:t>Phase 4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Random Forest classifier &amp;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Week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b="1" lang="en-IN"/>
                        <a:t>Phase 5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lang="en-IN"/>
                        <a:t>Documentation, GitHub &amp; dataset release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dirty="0" lang="en-IN"/>
                        <a:t>Week 5–6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2425"/>
            <a:ext cx="6591985" cy="3470067"/>
          </a:xfrm>
        </p:spPr>
        <p:txBody>
          <a:bodyPr/>
          <a:p>
            <a:pPr indent="0" marL="114300">
              <a:buNone/>
            </a:pPr>
            <a:r>
              <a:rPr b="1" dirty="0" sz="2400" lang="en-IN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&amp; Mitigation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dirty="0" lang="en-IN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data → Handle limited missing values and flag incomplete windows.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dirty="0" lang="en-IN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 stress windows → Validate against Nifty 50 drawdowns.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dirty="0" lang="en-IN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 errors → Cross-check selected results with public NSE data.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dirty="0" lang="en-IN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limitations → Use Random Forest as a baseline for future models. </a:t>
            </a:r>
          </a:p>
          <a:p>
            <a:pPr indent="0" marL="114300">
              <a:buNone/>
            </a:pPr>
            <a:endParaRPr dirty="0" lang="en-IN"/>
          </a:p>
        </p:txBody>
      </p:sp>
      <p:sp>
        <p:nvSpPr>
          <p:cNvPr id="1048718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Google Shape;785;p44"/>
          <p:cNvSpPr txBox="1">
            <a:spLocks noGrp="1"/>
          </p:cNvSpPr>
          <p:nvPr>
            <p:ph type="title"/>
          </p:nvPr>
        </p:nvSpPr>
        <p:spPr>
          <a:xfrm>
            <a:off x="1563036" y="309984"/>
            <a:ext cx="1636427" cy="48542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lvl="0">
              <a:buClr>
                <a:srgbClr val="1581AA"/>
              </a:buClr>
              <a:buSzPts val="3600"/>
            </a:pPr>
            <a:r>
              <a:rPr dirty="0" sz="2000" lang="en-US"/>
              <a:t>References</a:t>
            </a:r>
            <a:endParaRPr dirty="0" sz="2000"/>
          </a:p>
        </p:txBody>
      </p:sp>
      <p:sp>
        <p:nvSpPr>
          <p:cNvPr id="1048720" name="Google Shape;786;p44"/>
          <p:cNvSpPr txBox="1">
            <a:spLocks noGrp="1"/>
          </p:cNvSpPr>
          <p:nvPr>
            <p:ph type="body" idx="1"/>
          </p:nvPr>
        </p:nvSpPr>
        <p:spPr>
          <a:xfrm>
            <a:off x="1115632" y="816042"/>
            <a:ext cx="7741227" cy="568953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lvl="0">
              <a:buFont typeface="+mj-lt"/>
              <a:buAutoNum type="arabicPeriod"/>
            </a:pPr>
            <a:r>
              <a:rPr b="1" dirty="0" sz="1600" lang="en-IN"/>
              <a:t>Sharpe, W. F.</a:t>
            </a:r>
            <a:r>
              <a:rPr dirty="0" sz="1600" lang="en-IN"/>
              <a:t>, “The Sharpe Ratio,” </a:t>
            </a:r>
            <a:r>
              <a:rPr dirty="0" sz="1600" i="1" lang="en-IN"/>
              <a:t>The Journal of Portfolio Management</a:t>
            </a:r>
            <a:r>
              <a:rPr dirty="0" sz="1600" lang="en-IN"/>
              <a:t>, Vol. 21, No. 1, pp. 49–58, 1994. — Supports the Sharpe-ratio component of your methodology. </a:t>
            </a:r>
          </a:p>
          <a:p>
            <a:pPr lvl="0">
              <a:buFont typeface="+mj-lt"/>
              <a:buAutoNum type="arabicPeriod"/>
            </a:pPr>
            <a:r>
              <a:rPr b="1" dirty="0" sz="1600" lang="en-IN" err="1"/>
              <a:t>Jorion</a:t>
            </a:r>
            <a:r>
              <a:rPr b="1" dirty="0" sz="1600" lang="en-IN"/>
              <a:t>, P.</a:t>
            </a:r>
            <a:r>
              <a:rPr dirty="0" sz="1600" lang="en-IN"/>
              <a:t>, “Market Risk,” </a:t>
            </a:r>
            <a:r>
              <a:rPr dirty="0" sz="1600" i="1" lang="en-IN" err="1"/>
              <a:t>Encyclopedia</a:t>
            </a:r>
            <a:r>
              <a:rPr dirty="0" sz="1600" i="1" lang="en-IN"/>
              <a:t> of Quantitative Finance</a:t>
            </a:r>
            <a:r>
              <a:rPr dirty="0" sz="1600" lang="en-IN"/>
              <a:t>, 2010. — Useful reference for </a:t>
            </a:r>
            <a:r>
              <a:rPr b="1" dirty="0" sz="1600" lang="en-IN"/>
              <a:t>Value at Risk (</a:t>
            </a:r>
            <a:r>
              <a:rPr b="1" dirty="0" sz="1600" lang="en-IN" err="1"/>
              <a:t>VaR</a:t>
            </a:r>
            <a:r>
              <a:rPr b="1" dirty="0" sz="1600" lang="en-IN"/>
              <a:t>)</a:t>
            </a:r>
            <a:r>
              <a:rPr dirty="0" sz="1600" lang="en-IN"/>
              <a:t> and historical-simulation-based risk measurement. </a:t>
            </a:r>
          </a:p>
          <a:p>
            <a:pPr lvl="0">
              <a:buFont typeface="+mj-lt"/>
              <a:buAutoNum type="arabicPeriod"/>
            </a:pPr>
            <a:r>
              <a:rPr b="1" dirty="0" sz="1600" lang="en-IN"/>
              <a:t>Baptista, A. M. and Alexander, G. J.</a:t>
            </a:r>
            <a:r>
              <a:rPr dirty="0" sz="1600" lang="en-IN"/>
              <a:t>, “Portfolio Selection with a Drawdown Constraint,” </a:t>
            </a:r>
            <a:r>
              <a:rPr dirty="0" sz="1600" i="1" lang="en-IN"/>
              <a:t>Journal of Banking &amp; Finance</a:t>
            </a:r>
            <a:r>
              <a:rPr dirty="0" sz="1600" lang="en-IN"/>
              <a:t>, Vol. 30, No. 11, pp. 3171–3189, 2006. — Supports the use of </a:t>
            </a:r>
            <a:r>
              <a:rPr b="1" dirty="0" sz="1600" lang="en-IN"/>
              <a:t>maximum drawdown as a portfolio risk measure</a:t>
            </a:r>
            <a:r>
              <a:rPr dirty="0" sz="1600" lang="en-IN"/>
              <a:t>. </a:t>
            </a:r>
          </a:p>
          <a:p>
            <a:pPr lvl="0">
              <a:buFont typeface="+mj-lt"/>
              <a:buAutoNum type="arabicPeriod"/>
            </a:pPr>
            <a:r>
              <a:rPr b="1" dirty="0" sz="1600" lang="en-IN"/>
              <a:t>Goldberg, L. R. and Mahmoud, O.</a:t>
            </a:r>
            <a:r>
              <a:rPr dirty="0" sz="1600" lang="en-IN"/>
              <a:t>, “Drawdown: From Practice to Theory and Back Again,” 2014. — Provides theoretical background on </a:t>
            </a:r>
            <a:r>
              <a:rPr b="1" dirty="0" sz="1600" lang="en-IN"/>
              <a:t>maximum drawdown and drawdown-based risk measurement</a:t>
            </a:r>
            <a:r>
              <a:rPr dirty="0" sz="1600" lang="en-IN"/>
              <a:t>. </a:t>
            </a:r>
          </a:p>
          <a:p>
            <a:pPr lvl="0">
              <a:buFont typeface="+mj-lt"/>
              <a:buAutoNum type="arabicPeriod"/>
            </a:pPr>
            <a:r>
              <a:rPr b="1" dirty="0" sz="1600" lang="en-IN"/>
              <a:t>NSE Indices</a:t>
            </a:r>
            <a:r>
              <a:rPr dirty="0" sz="1600" lang="en-IN"/>
              <a:t>, “NIFTY 50 Index – Index Methodology and Historical Data.” — Primary reference for </a:t>
            </a:r>
            <a:r>
              <a:rPr b="1" dirty="0" sz="1600" lang="en-IN"/>
              <a:t>Nifty 50/index information and Indian market data</a:t>
            </a:r>
            <a:r>
              <a:rPr dirty="0" sz="1600" lang="en-IN"/>
              <a:t>. </a:t>
            </a:r>
          </a:p>
          <a:p>
            <a:pPr lvl="0">
              <a:buFont typeface="+mj-lt"/>
              <a:buAutoNum type="arabicPeriod"/>
            </a:pPr>
            <a:r>
              <a:rPr b="1" dirty="0" sz="1600" lang="en-IN"/>
              <a:t>Reserve Bank of India</a:t>
            </a:r>
            <a:r>
              <a:rPr dirty="0" sz="1600" lang="en-IN"/>
              <a:t>, </a:t>
            </a:r>
            <a:r>
              <a:rPr dirty="0" sz="1600" i="1" lang="en-IN"/>
              <a:t>Annual Report 2022–23</a:t>
            </a:r>
            <a:r>
              <a:rPr dirty="0" sz="1600" lang="en-IN"/>
              <a:t>, “Chronology of Major Policy Announcements: April 2022 to March 2023.” — Supports the </a:t>
            </a:r>
            <a:r>
              <a:rPr b="1" dirty="0" sz="1600" lang="en-IN"/>
              <a:t>RBI Rate Hike stress event</a:t>
            </a:r>
            <a:r>
              <a:rPr dirty="0" sz="1600" lang="en-IN"/>
              <a:t>, including the increase from 4.0% to 6.5% between May 2022 and February 2023. </a:t>
            </a:r>
          </a:p>
        </p:txBody>
      </p:sp>
      <p:sp>
        <p:nvSpPr>
          <p:cNvPr id="1048721" name="Google Shape;787;p44"/>
          <p:cNvSpPr txBox="1"/>
          <p:nvPr/>
        </p:nvSpPr>
        <p:spPr>
          <a:xfrm>
            <a:off x="7948612" y="6140450"/>
            <a:ext cx="7762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fld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</a:p>
        </p:txBody>
      </p:sp>
      <p:sp>
        <p:nvSpPr>
          <p:cNvPr id="1048722" name="Google Shape;788;p44"/>
          <p:cNvSpPr txBox="1"/>
          <p:nvPr/>
        </p:nvSpPr>
        <p:spPr>
          <a:xfrm>
            <a:off x="1943100" y="6156325"/>
            <a:ext cx="876300" cy="36988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</a:p>
        </p:txBody>
      </p:sp>
      <p:sp>
        <p:nvSpPr>
          <p:cNvPr id="1048723" name="Google Shape;789;p44"/>
          <p:cNvSpPr txBox="1"/>
          <p:nvPr/>
        </p:nvSpPr>
        <p:spPr>
          <a:xfrm>
            <a:off x="2846585" y="6492875"/>
            <a:ext cx="5716587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dirty="0" sz="900" i="0" lang="en-US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2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3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4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5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6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7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8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9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10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11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12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13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14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15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name="16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GURUKUMAR</dc:creator>
  <cp:lastModifiedBy>Basan gouda</cp:lastModifiedBy>
  <dcterms:created xsi:type="dcterms:W3CDTF">2026-08-21T18:54:28Z</dcterms:created>
  <dcterms:modified xsi:type="dcterms:W3CDTF">2026-08-21T18:54:28Z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5cecfbc00d2b4d1697cac22986b117db_23</vt:lpwstr>
  </property>
</Properties>
</file>