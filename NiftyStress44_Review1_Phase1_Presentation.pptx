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5"/>
  </p:handoutMasterIdLst>
  <p:sldIdLst>
    <p:sldId id="256" r:id="rId3"/>
    <p:sldId id="258" r:id="rId5"/>
    <p:sldId id="262" r:id="rId6"/>
    <p:sldId id="261" r:id="rId7"/>
    <p:sldId id="260" r:id="rId8"/>
    <p:sldId id="259" r:id="rId9"/>
    <p:sldId id="263" r:id="rId10"/>
    <p:sldId id="270" r:id="rId19"/>
    <p:sldId id="265" r:id="rId11"/>
    <p:sldId id="269" r:id="rId12"/>
    <p:sldId id="271" r:id="rId20"/>
    <p:sldId id="264" r:id="rId13"/>
    <p:sldId id="268" r:id="rId14"/>
  </p:sldIdLst>
  <p:sldSz cx="9144000" cy="6858000" type="screen4x3"/>
  <p:notesSz cx="6858000" cy="9144000"/>
  <p:defaultTextStyle>
    <a:defPPr>
      <a:defRPr lang="en-US"/>
    </a:defPPr>
    <a:lvl1pPr marL="0" lvl="0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lvl="1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lvl="2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lvl="3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lvl="4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lvl="5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lvl="6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lvl="7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lvl="8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3217"/>
    <a:srgbClr val="420408"/>
    <a:srgbClr val="0D0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>
        <p:scale>
          <a:sx n="71" d="100"/>
          <a:sy n="71" d="100"/>
        </p:scale>
        <p:origin x="-1136" y="2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handoutMaster" Target="handoutMasters/handout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slide" Target="slides/slide8.xml"/><Relationship Id="rId20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Title of the project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D65D1B-4878-47F4-A64E-DF6BAA956D7E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2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CSE Dept., SET-Jain University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2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altLang="en-US" sz="1200" dirty="0">
                <a:latin typeface="Calibri" panose="020F0502020204030204" pitchFamily="34" charset="0"/>
              </a:rPr>
            </a:fld>
            <a:endParaRPr lang="en-US" altLang="en-US" sz="1200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1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Title of the project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E49C896-B1F7-42D3-B379-D84BAE1F72E3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700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01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01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CSE Dept., SET-Jain University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01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altLang="en-US" sz="1200" dirty="0">
                <a:latin typeface="Calibri" panose="020F0502020204030204" pitchFamily="34" charset="0"/>
              </a:rPr>
            </a:fld>
            <a:endParaRPr lang="en-US" altLang="en-US" sz="1200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r>
              <a:rPr lang="en-US" altLang="en-US" sz="1200" dirty="0">
                <a:latin typeface="Arial" panose="020B0604020202020204" pitchFamily="34" charset="0"/>
              </a:rPr>
              <a:t>Title of the project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30723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r>
              <a:rPr lang="en-US" altLang="en-US" sz="1200" dirty="0">
                <a:latin typeface="Arial" panose="020B0604020202020204" pitchFamily="34" charset="0"/>
              </a:rPr>
              <a:t>CSE Dept., SET-Jain University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3072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>
                <a:latin typeface="Arial" panose="020B0604020202020204" pitchFamily="34" charset="0"/>
              </a:rPr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30725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3072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Freeform 8"/>
          <p:cNvSpPr/>
          <p:nvPr/>
        </p:nvSpPr>
        <p:spPr>
          <a:xfrm>
            <a:off x="-31750" y="4321175"/>
            <a:ext cx="1395413" cy="78105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2147483647" y="2147483647"/>
              </a:cxn>
            </a:cxnLst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pic>
        <p:nvPicPr>
          <p:cNvPr id="2054" name="Picture 3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304800"/>
            <a:ext cx="1416050" cy="454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3863" y="4529138"/>
            <a:ext cx="584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82A147-CBC7-4C5D-839E-B7CA253D1681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pic>
        <p:nvPicPr>
          <p:cNvPr id="3078" name="Picture 3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125413"/>
            <a:ext cx="1416050" cy="454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6" name="Date Placeholder 3"/>
          <p:cNvSpPr>
            <a:spLocks noGrp="1"/>
          </p:cNvSpPr>
          <p:nvPr>
            <p:ph type="dt" sz="half" idx="2"/>
          </p:nvPr>
        </p:nvSpPr>
        <p:spPr>
          <a:xfrm>
            <a:off x="1943100" y="6103938"/>
            <a:ext cx="952500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4BF0F24-9822-4852-94C5-14FFDA0157E7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600" y="6103938"/>
            <a:ext cx="487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48613" y="6140450"/>
            <a:ext cx="7762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algn="ctr" fontAlgn="auto">
              <a:spcBef>
                <a:spcPts val="0"/>
              </a:spcBef>
              <a:spcAft>
                <a:spcPts val="0"/>
              </a:spcAft>
              <a:defRPr lang="en-IN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(#)  of 12</a:t>
            </a:r>
            <a:endParaRPr kumimoji="0" lang="en-I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Freeform 11"/>
          <p:cNvSpPr/>
          <p:nvPr/>
        </p:nvSpPr>
        <p:spPr>
          <a:xfrm flipV="1">
            <a:off x="0" y="3167063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5" name="Slide Number Placeholder 5"/>
          <p:cNvSpPr txBox="1"/>
          <p:nvPr/>
        </p:nvSpPr>
        <p:spPr>
          <a:xfrm>
            <a:off x="7948613" y="6140450"/>
            <a:ext cx="77628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lang="en-IN" sz="9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(#)  of 12</a:t>
            </a:r>
            <a:endParaRPr kumimoji="0" lang="en-I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103" name="Picture 3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304800"/>
            <a:ext cx="1416050" cy="454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7" name="Date Placeholder 3"/>
          <p:cNvSpPr>
            <a:spLocks noGrp="1"/>
          </p:cNvSpPr>
          <p:nvPr>
            <p:ph type="dt" sz="half" idx="2"/>
          </p:nvPr>
        </p:nvSpPr>
        <p:spPr>
          <a:xfrm>
            <a:off x="1908175" y="612933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C51EFF6-FB9F-4E88-846D-A0E2569634EA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4938" y="6129338"/>
            <a:ext cx="5173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175" y="3244850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5" name="Slide Number Placeholder 5"/>
          <p:cNvSpPr txBox="1"/>
          <p:nvPr/>
        </p:nvSpPr>
        <p:spPr>
          <a:xfrm>
            <a:off x="7948613" y="6140450"/>
            <a:ext cx="77628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lang="en-IN" sz="9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(#)  of 12</a:t>
            </a:r>
            <a:endParaRPr kumimoji="0" lang="en-I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127" name="Picture 3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27938" y="125413"/>
            <a:ext cx="1416050" cy="454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7" name="Date Placeholder 1"/>
          <p:cNvSpPr>
            <a:spLocks noGrp="1"/>
          </p:cNvSpPr>
          <p:nvPr>
            <p:ph type="dt" sz="half" idx="12"/>
          </p:nvPr>
        </p:nvSpPr>
        <p:spPr>
          <a:xfrm>
            <a:off x="1828800" y="6111875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97B91C6-A360-4486-920B-07236A69ECA6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Footer Placeholder 13"/>
          <p:cNvSpPr>
            <a:spLocks noGrp="1"/>
          </p:cNvSpPr>
          <p:nvPr>
            <p:ph type="ftr" sz="quarter" idx="3"/>
          </p:nvPr>
        </p:nvSpPr>
        <p:spPr>
          <a:xfrm>
            <a:off x="2595563" y="6135688"/>
            <a:ext cx="5064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Slide Number Placeholder 14"/>
          <p:cNvSpPr>
            <a:spLocks noGrp="1"/>
          </p:cNvSpPr>
          <p:nvPr>
            <p:ph type="sldNum" sz="quarter" idx="4"/>
          </p:nvPr>
        </p:nvSpPr>
        <p:spPr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5" name="Slide Number Placeholder 5"/>
          <p:cNvSpPr txBox="1"/>
          <p:nvPr/>
        </p:nvSpPr>
        <p:spPr>
          <a:xfrm>
            <a:off x="7948613" y="6140450"/>
            <a:ext cx="77628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lang="en-IN" sz="9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(#)  of 12</a:t>
            </a:r>
            <a:endParaRPr kumimoji="0" lang="en-I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151" name="Picture 3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304800"/>
            <a:ext cx="1416050" cy="454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7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  <p:sp>
        <p:nvSpPr>
          <p:cNvPr id="38" name="Date Placeholder 1"/>
          <p:cNvSpPr>
            <a:spLocks noGrp="1"/>
          </p:cNvSpPr>
          <p:nvPr>
            <p:ph type="dt" sz="half" idx="12"/>
          </p:nvPr>
        </p:nvSpPr>
        <p:spPr>
          <a:xfrm>
            <a:off x="1943100" y="6156325"/>
            <a:ext cx="876300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EE97578-B622-4EDE-ADB7-90441716F8A5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Footer Placeholder 2"/>
          <p:cNvSpPr>
            <a:spLocks noGrp="1"/>
          </p:cNvSpPr>
          <p:nvPr>
            <p:ph type="ftr" sz="quarter" idx="13"/>
          </p:nvPr>
        </p:nvSpPr>
        <p:spPr>
          <a:xfrm>
            <a:off x="2819400" y="6156325"/>
            <a:ext cx="487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pic>
        <p:nvPicPr>
          <p:cNvPr id="7174" name="Picture 3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78700" y="165100"/>
            <a:ext cx="1416050" cy="454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Date Placeholder 1"/>
          <p:cNvSpPr>
            <a:spLocks noGrp="1"/>
          </p:cNvSpPr>
          <p:nvPr>
            <p:ph type="dt" sz="half" idx="2"/>
          </p:nvPr>
        </p:nvSpPr>
        <p:spPr>
          <a:xfrm>
            <a:off x="1943100" y="6156325"/>
            <a:ext cx="876300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9B03FA8-0D1D-4DBD-91FA-34D589472BD8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19400" y="6156325"/>
            <a:ext cx="487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48613" y="6140450"/>
            <a:ext cx="7762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algn="ctr" fontAlgn="auto">
              <a:spcBef>
                <a:spcPts val="0"/>
              </a:spcBef>
              <a:spcAft>
                <a:spcPts val="0"/>
              </a:spcAft>
              <a:defRPr lang="en-IN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(#)  of 12</a:t>
            </a:r>
            <a:endParaRPr kumimoji="0" lang="en-I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5" name="Slide Number Placeholder 5"/>
          <p:cNvSpPr txBox="1"/>
          <p:nvPr/>
        </p:nvSpPr>
        <p:spPr>
          <a:xfrm>
            <a:off x="7948613" y="6140450"/>
            <a:ext cx="77628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lang="en-IN" sz="9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(#)  of 12</a:t>
            </a:r>
            <a:endParaRPr kumimoji="0" lang="en-I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199" name="Picture 3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304800"/>
            <a:ext cx="1416050" cy="454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" name="Date Placeholder 1"/>
          <p:cNvSpPr>
            <a:spLocks noGrp="1"/>
          </p:cNvSpPr>
          <p:nvPr>
            <p:ph type="dt" sz="half" idx="2"/>
          </p:nvPr>
        </p:nvSpPr>
        <p:spPr>
          <a:xfrm>
            <a:off x="1943100" y="6156325"/>
            <a:ext cx="876300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96EC54A-439F-4F7D-B89E-D2B4329EC00F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19400" y="6156325"/>
            <a:ext cx="502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5" name="Slide Number Placeholder 5"/>
          <p:cNvSpPr txBox="1"/>
          <p:nvPr/>
        </p:nvSpPr>
        <p:spPr>
          <a:xfrm>
            <a:off x="7948613" y="6140450"/>
            <a:ext cx="77628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lang="en-IN" sz="9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(#)  of 12</a:t>
            </a:r>
            <a:endParaRPr kumimoji="0" lang="en-I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223" name="Picture 3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27938" y="58738"/>
            <a:ext cx="1416050" cy="4556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  <p:sp>
        <p:nvSpPr>
          <p:cNvPr id="38" name="Date Placeholder 1"/>
          <p:cNvSpPr>
            <a:spLocks noGrp="1"/>
          </p:cNvSpPr>
          <p:nvPr>
            <p:ph type="dt" sz="half" idx="12"/>
          </p:nvPr>
        </p:nvSpPr>
        <p:spPr>
          <a:xfrm>
            <a:off x="1943100" y="6156325"/>
            <a:ext cx="876300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290FA49-AE4E-4E10-8D9A-5AFC2F58E9D8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19400" y="6156325"/>
            <a:ext cx="502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Freeform 11"/>
          <p:cNvSpPr/>
          <p:nvPr/>
        </p:nvSpPr>
        <p:spPr>
          <a:xfrm flipV="1">
            <a:off x="0" y="4910138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5" name="Date Placeholder 1"/>
          <p:cNvSpPr txBox="1"/>
          <p:nvPr/>
        </p:nvSpPr>
        <p:spPr>
          <a:xfrm>
            <a:off x="1949450" y="6188075"/>
            <a:ext cx="876300" cy="36988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r" defTabSz="457200" rtl="0" eaLnBrk="1" fontAlgn="auto" hangingPunct="1">
              <a:spcBef>
                <a:spcPts val="0"/>
              </a:spcBef>
              <a:spcAft>
                <a:spcPts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B7BC46C-3AC0-4BB2-A5DF-9CF601BEACAA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2"/>
          <p:cNvSpPr txBox="1"/>
          <p:nvPr/>
        </p:nvSpPr>
        <p:spPr>
          <a:xfrm>
            <a:off x="2790825" y="6210300"/>
            <a:ext cx="5029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Slide Number Placeholder 5"/>
          <p:cNvSpPr txBox="1"/>
          <p:nvPr/>
        </p:nvSpPr>
        <p:spPr>
          <a:xfrm>
            <a:off x="7954963" y="6091238"/>
            <a:ext cx="77628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lang="en-IN" sz="9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of ##</a:t>
            </a:r>
            <a:endParaRPr kumimoji="0" lang="en-I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None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8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511175" y="4983163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82A147-CBC7-4C5D-839E-B7CA253D1681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Freeform 11"/>
          <p:cNvSpPr/>
          <p:nvPr/>
        </p:nvSpPr>
        <p:spPr>
          <a:xfrm flipV="1">
            <a:off x="0" y="3167063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5" name="Date Placeholder 1"/>
          <p:cNvSpPr txBox="1"/>
          <p:nvPr/>
        </p:nvSpPr>
        <p:spPr>
          <a:xfrm>
            <a:off x="1949450" y="6188075"/>
            <a:ext cx="876300" cy="36988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r" defTabSz="457200" rtl="0" eaLnBrk="1" fontAlgn="auto" hangingPunct="1">
              <a:spcBef>
                <a:spcPts val="0"/>
              </a:spcBef>
              <a:spcAft>
                <a:spcPts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B7BC46C-3AC0-4BB2-A5DF-9CF601BEACAA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2"/>
          <p:cNvSpPr txBox="1"/>
          <p:nvPr/>
        </p:nvSpPr>
        <p:spPr>
          <a:xfrm>
            <a:off x="2790825" y="6210300"/>
            <a:ext cx="5029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Slide Number Placeholder 5"/>
          <p:cNvSpPr txBox="1"/>
          <p:nvPr/>
        </p:nvSpPr>
        <p:spPr>
          <a:xfrm>
            <a:off x="7954963" y="6091238"/>
            <a:ext cx="77628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lang="en-IN" sz="9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of ##</a:t>
            </a:r>
            <a:endParaRPr kumimoji="0" lang="en-I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1273" name="Picture 3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0" y="38100"/>
            <a:ext cx="1416050" cy="454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175" y="3244850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82A147-CBC7-4C5D-839E-B7CA253D1681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Freeform 11"/>
          <p:cNvSpPr/>
          <p:nvPr/>
        </p:nvSpPr>
        <p:spPr>
          <a:xfrm flipV="1">
            <a:off x="0" y="3167063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1808163" y="647700"/>
            <a:ext cx="457200" cy="5857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80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endParaRPr kumimoji="0" lang="en-US" altLang="en-US" sz="80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6" name="TextBox 62"/>
          <p:cNvSpPr txBox="1">
            <a:spLocks noChangeArrowheads="1"/>
          </p:cNvSpPr>
          <p:nvPr/>
        </p:nvSpPr>
        <p:spPr bwMode="auto">
          <a:xfrm>
            <a:off x="8169275" y="2905125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80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endParaRPr kumimoji="0" lang="en-US" altLang="en-US" sz="80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7" name="Date Placeholder 1"/>
          <p:cNvSpPr txBox="1"/>
          <p:nvPr/>
        </p:nvSpPr>
        <p:spPr>
          <a:xfrm>
            <a:off x="1949450" y="6188075"/>
            <a:ext cx="876300" cy="36988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r" defTabSz="457200" rtl="0" eaLnBrk="1" fontAlgn="auto" hangingPunct="1">
              <a:spcBef>
                <a:spcPts val="0"/>
              </a:spcBef>
              <a:spcAft>
                <a:spcPts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B7BC46C-3AC0-4BB2-A5DF-9CF601BEACAA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Footer Placeholder 2"/>
          <p:cNvSpPr txBox="1"/>
          <p:nvPr/>
        </p:nvSpPr>
        <p:spPr>
          <a:xfrm>
            <a:off x="2790825" y="6210300"/>
            <a:ext cx="5029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Slide Number Placeholder 5"/>
          <p:cNvSpPr txBox="1"/>
          <p:nvPr/>
        </p:nvSpPr>
        <p:spPr>
          <a:xfrm>
            <a:off x="7954963" y="6091238"/>
            <a:ext cx="77628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lang="en-IN" sz="9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of ##</a:t>
            </a:r>
            <a:endParaRPr kumimoji="0" lang="en-I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299" name="Picture 3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0" y="38100"/>
            <a:ext cx="1416050" cy="454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175" y="3244850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82A147-CBC7-4C5D-839E-B7CA253D1681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Freeform 11"/>
          <p:cNvSpPr/>
          <p:nvPr/>
        </p:nvSpPr>
        <p:spPr>
          <a:xfrm flipV="1">
            <a:off x="0" y="4910138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5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511175" y="4983163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82A147-CBC7-4C5D-839E-B7CA253D1681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Freeform 11"/>
          <p:cNvSpPr/>
          <p:nvPr/>
        </p:nvSpPr>
        <p:spPr>
          <a:xfrm flipV="1">
            <a:off x="0" y="4910138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1808163" y="647700"/>
            <a:ext cx="457200" cy="5857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80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endParaRPr kumimoji="0" lang="en-US" altLang="en-US" sz="80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6" name="TextBox 62"/>
          <p:cNvSpPr txBox="1">
            <a:spLocks noChangeArrowheads="1"/>
          </p:cNvSpPr>
          <p:nvPr/>
        </p:nvSpPr>
        <p:spPr bwMode="auto">
          <a:xfrm>
            <a:off x="8169275" y="2905125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80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endParaRPr kumimoji="0" lang="en-US" altLang="en-US" sz="80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7" name="Date Placeholder 1"/>
          <p:cNvSpPr txBox="1"/>
          <p:nvPr/>
        </p:nvSpPr>
        <p:spPr>
          <a:xfrm>
            <a:off x="1949450" y="6188075"/>
            <a:ext cx="876300" cy="36988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r" defTabSz="457200" rtl="0" eaLnBrk="1" fontAlgn="auto" hangingPunct="1">
              <a:spcBef>
                <a:spcPts val="0"/>
              </a:spcBef>
              <a:spcAft>
                <a:spcPts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B7BC46C-3AC0-4BB2-A5DF-9CF601BEACAA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Footer Placeholder 2"/>
          <p:cNvSpPr txBox="1"/>
          <p:nvPr/>
        </p:nvSpPr>
        <p:spPr>
          <a:xfrm>
            <a:off x="2790825" y="6210300"/>
            <a:ext cx="5029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Slide Number Placeholder 5"/>
          <p:cNvSpPr txBox="1"/>
          <p:nvPr/>
        </p:nvSpPr>
        <p:spPr>
          <a:xfrm>
            <a:off x="7954963" y="6091238"/>
            <a:ext cx="77628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lang="en-IN" sz="9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of ##</a:t>
            </a:r>
            <a:endParaRPr kumimoji="0" lang="en-I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0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511175" y="4983163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82A147-CBC7-4C5D-839E-B7CA253D1681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Freeform 11"/>
          <p:cNvSpPr/>
          <p:nvPr/>
        </p:nvSpPr>
        <p:spPr>
          <a:xfrm flipV="1">
            <a:off x="0" y="4910138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5" name="Date Placeholder 1"/>
          <p:cNvSpPr txBox="1"/>
          <p:nvPr/>
        </p:nvSpPr>
        <p:spPr>
          <a:xfrm>
            <a:off x="1949450" y="6188075"/>
            <a:ext cx="876300" cy="36988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r" defTabSz="457200" rtl="0" eaLnBrk="1" fontAlgn="auto" hangingPunct="1">
              <a:spcBef>
                <a:spcPts val="0"/>
              </a:spcBef>
              <a:spcAft>
                <a:spcPts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B7BC46C-3AC0-4BB2-A5DF-9CF601BEACAA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2"/>
          <p:cNvSpPr txBox="1"/>
          <p:nvPr/>
        </p:nvSpPr>
        <p:spPr>
          <a:xfrm>
            <a:off x="2790825" y="6210300"/>
            <a:ext cx="5029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Slide Number Placeholder 5"/>
          <p:cNvSpPr txBox="1"/>
          <p:nvPr/>
        </p:nvSpPr>
        <p:spPr>
          <a:xfrm>
            <a:off x="7954963" y="6091238"/>
            <a:ext cx="77628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lang="en-IN" sz="9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of ##</a:t>
            </a:r>
            <a:endParaRPr kumimoji="0" lang="en-I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8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511175" y="4983163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82A147-CBC7-4C5D-839E-B7CA253D1681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5" name="Date Placeholder 1"/>
          <p:cNvSpPr txBox="1"/>
          <p:nvPr/>
        </p:nvSpPr>
        <p:spPr>
          <a:xfrm>
            <a:off x="1949450" y="6188075"/>
            <a:ext cx="876300" cy="36988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r" defTabSz="457200" rtl="0" eaLnBrk="1" fontAlgn="auto" hangingPunct="1">
              <a:spcBef>
                <a:spcPts val="0"/>
              </a:spcBef>
              <a:spcAft>
                <a:spcPts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B7BC46C-3AC0-4BB2-A5DF-9CF601BEACAA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2"/>
          <p:cNvSpPr txBox="1"/>
          <p:nvPr/>
        </p:nvSpPr>
        <p:spPr>
          <a:xfrm>
            <a:off x="2790825" y="6210300"/>
            <a:ext cx="5029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Slide Number Placeholder 5"/>
          <p:cNvSpPr txBox="1"/>
          <p:nvPr/>
        </p:nvSpPr>
        <p:spPr>
          <a:xfrm>
            <a:off x="7954963" y="6091238"/>
            <a:ext cx="77628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lang="en-IN" sz="9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of ##</a:t>
            </a:r>
            <a:endParaRPr kumimoji="0" lang="en-I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82A147-CBC7-4C5D-839E-B7CA253D1681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5" name="Date Placeholder 1"/>
          <p:cNvSpPr txBox="1"/>
          <p:nvPr/>
        </p:nvSpPr>
        <p:spPr>
          <a:xfrm>
            <a:off x="1949450" y="6188075"/>
            <a:ext cx="876300" cy="36988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r" defTabSz="457200" rtl="0" eaLnBrk="1" fontAlgn="auto" hangingPunct="1">
              <a:spcBef>
                <a:spcPts val="0"/>
              </a:spcBef>
              <a:spcAft>
                <a:spcPts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B7BC46C-3AC0-4BB2-A5DF-9CF601BEACAA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2"/>
          <p:cNvSpPr txBox="1"/>
          <p:nvPr/>
        </p:nvSpPr>
        <p:spPr>
          <a:xfrm>
            <a:off x="2790825" y="6210300"/>
            <a:ext cx="5029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Slide Number Placeholder 5"/>
          <p:cNvSpPr txBox="1"/>
          <p:nvPr/>
        </p:nvSpPr>
        <p:spPr>
          <a:xfrm>
            <a:off x="7954963" y="6091238"/>
            <a:ext cx="77628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lang="en-IN" sz="9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of ##</a:t>
            </a:r>
            <a:endParaRPr kumimoji="0" lang="en-I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82A147-CBC7-4C5D-839E-B7CA253D1681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35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046" name="Freeform 11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7" name="Freeform 12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8" name="Freeform 13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0" y="0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9" name="Freeform 14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2147483647" y="2147483647"/>
                </a:cxn>
              </a:cxnLst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50" name="Freeform 15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51" name="Freeform 16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52" name="Freeform 17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</a:cxnLst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53" name="Freeform 18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</a:cxnLst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54" name="Freeform 19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55" name="Freeform 20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</a:cxnLst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56" name="Freeform 21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0" y="2147483647"/>
                </a:cxn>
                <a:cxn ang="0">
                  <a:pos x="2147483647" y="2147483647"/>
                </a:cxn>
              </a:cxnLst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57" name="Freeform 22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grpSp>
        <p:nvGrpSpPr>
          <p:cNvPr id="1027" name="Group 48"/>
          <p:cNvGrpSpPr/>
          <p:nvPr/>
        </p:nvGrpSpPr>
        <p:grpSpPr>
          <a:xfrm>
            <a:off x="20638" y="0"/>
            <a:ext cx="1952625" cy="6853238"/>
            <a:chOff x="6627813" y="196102"/>
            <a:chExt cx="1952625" cy="5677649"/>
          </a:xfrm>
        </p:grpSpPr>
        <p:sp>
          <p:nvSpPr>
            <p:cNvPr id="1034" name="Freeform 27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5" name="Freeform 28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6" name="Freeform 29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7" name="Freeform 30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8" name="Freeform 31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9" name="Freeform 32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2147483647" y="2147483647"/>
                </a:cxn>
              </a:cxnLst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0" name="Freeform 33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0" y="2147483647"/>
                </a:cxn>
                <a:cxn ang="0">
                  <a:pos x="2147483647" y="2147483647"/>
                </a:cxn>
              </a:cxnLst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1" name="Freeform 34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2" name="Freeform 35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</a:cxnLst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3" name="Freeform 36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</a:cxnLst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4" name="Freeform 37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5" name="Freeform 38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563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29" name="Title Placeholder 1"/>
          <p:cNvSpPr>
            <a:spLocks noGrp="1"/>
          </p:cNvSpPr>
          <p:nvPr>
            <p:ph type="title"/>
          </p:nvPr>
        </p:nvSpPr>
        <p:spPr>
          <a:xfrm>
            <a:off x="1944688" y="623888"/>
            <a:ext cx="6589712" cy="128111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82A147-CBC7-4C5D-839E-B7CA253D1681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en-US" altLang="en-US" dirty="0">
                <a:latin typeface="Century Gothic" panose="020B0502020202020204" pitchFamily="34" charset="0"/>
              </a:rPr>
            </a:fld>
            <a:endParaRPr lang="en-US" altLang="en-US" dirty="0">
              <a:latin typeface="Century Gothic" panose="020B0502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600" kern="1200">
          <a:solidFill>
            <a:srgbClr val="1581AA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1581AA"/>
          </a:solidFill>
          <a:latin typeface="Century Gothic" panose="020B0502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1581AA"/>
          </a:solidFill>
          <a:latin typeface="Century Gothic" panose="020B0502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1581AA"/>
          </a:solidFill>
          <a:latin typeface="Century Gothic" panose="020B0502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1581AA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6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876300" y="42863"/>
            <a:ext cx="8153400" cy="8588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435" name="Rectangle 3"/>
          <p:cNvSpPr>
            <a:spLocks noGrp="1"/>
          </p:cNvSpPr>
          <p:nvPr>
            <p:ph type="subTitle" idx="1"/>
          </p:nvPr>
        </p:nvSpPr>
        <p:spPr>
          <a:xfrm>
            <a:off x="731520" y="2697480"/>
            <a:ext cx="7680960" cy="1325880"/>
          </a:xfrm>
          <a:ln/>
        </p:spPr>
        <p:txBody>
          <a:bodyPr vert="horz" wrap="square" lIns="91440" tIns="45720" rIns="91440" bIns="45720" anchor="t" anchorCtr="0"/>
          <a:p>
            <a:pPr algn="ctr" defTabSz="457200" eaLnBrk="1" hangingPunct="1">
              <a:buSzTx/>
            </a:pPr>
            <a:r>
              <a:rPr lang="en-US" altLang="en-US" sz="1900" b="1" kern="1200" dirty="0">
                <a:solidFill>
                  <a:srgbClr val="420408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ANALYSIS OF PORTFOLIO RISK ACROSS NIFTY SECTORS DURING MACROECONOMIC STRESS EVENTS</a:t>
            </a:r>
            <a:endParaRPr lang="en-US" altLang="en-US" sz="2800" b="1" kern="1200" dirty="0">
              <a:solidFill>
                <a:srgbClr val="420408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algn="ctr" defTabSz="457200" eaLnBrk="1" hangingPunct="1">
              <a:spcBef>
                <a:spcPts val="900"/>
              </a:spcBef>
              <a:buSzTx/>
            </a:pPr>
            <a:r>
              <a:rPr lang="en-US" altLang="en-US" sz="2000" b="1" kern="1200" dirty="0">
                <a:solidFill>
                  <a:srgbClr val="420408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Team No : 27  |  Major Project Phase-I (Review 1)</a:t>
            </a:r>
            <a:endParaRPr lang="en-US" altLang="en-US" sz="2800" b="1" kern="1200" dirty="0">
              <a:solidFill>
                <a:srgbClr val="420408"/>
              </a:solidFill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18436" name="TextBox 1"/>
          <p:cNvSpPr txBox="1"/>
          <p:nvPr/>
        </p:nvSpPr>
        <p:spPr>
          <a:xfrm>
            <a:off x="2011680" y="5074920"/>
            <a:ext cx="5120640" cy="12001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 eaLnBrk="1" hangingPunct="1"/>
            <a:r>
              <a:rPr lang="en-IN" altLang="en-US" b="1" dirty="0" sz="1200">
                <a:latin typeface="Arial" panose="020B0604020202020204" pitchFamily="34" charset="0"/>
              </a:rPr>
              <a:t>Presented By:</a:t>
            </a:r>
            <a:endParaRPr lang="en-IN" altLang="en-US" b="1" dirty="0">
              <a:latin typeface="Arial" panose="020B0604020202020204" pitchFamily="34" charset="0"/>
            </a:endParaRPr>
          </a:p>
          <a:p>
            <a:pPr algn="ctr"/>
            <a:r>
              <a:rPr sz="1200" b="1">
                <a:latin typeface="Arial"/>
              </a:rPr>
              <a:t>Akshata I Kallimath (ENG23CS0016)</a:t>
            </a:r>
          </a:p>
          <a:p>
            <a:pPr algn="ctr"/>
            <a:r>
              <a:rPr sz="1200" b="1">
                <a:latin typeface="Arial"/>
              </a:rPr>
              <a:t>Basanagouda (ENG23CS0028)</a:t>
            </a:r>
          </a:p>
          <a:p>
            <a:pPr algn="ctr"/>
            <a:r>
              <a:rPr sz="1200" b="1">
                <a:latin typeface="Arial"/>
              </a:rPr>
              <a:t>Guru Kumar (ENG23CS0070)</a:t>
            </a:r>
          </a:p>
          <a:p>
            <a:pPr algn="ctr"/>
            <a:r>
              <a:rPr sz="1200" b="1">
                <a:latin typeface="Arial"/>
              </a:rPr>
              <a:t>Indushree D N (ENG23CS0080)</a:t>
            </a:r>
          </a:p>
        </p:txBody>
      </p:sp>
      <p:sp>
        <p:nvSpPr>
          <p:cNvPr id="18437" name="TextBox 5"/>
          <p:cNvSpPr txBox="1"/>
          <p:nvPr/>
        </p:nvSpPr>
        <p:spPr>
          <a:xfrm>
            <a:off x="1619250" y="2103120"/>
            <a:ext cx="59055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en-IN" alt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Major Project Phase-I  |  Review 1</a:t>
            </a:r>
            <a:endParaRPr lang="en-IN" altLang="en-US" sz="24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8438" name="Rectangle 3"/>
          <p:cNvSpPr txBox="1"/>
          <p:nvPr/>
        </p:nvSpPr>
        <p:spPr>
          <a:xfrm>
            <a:off x="381000" y="1319213"/>
            <a:ext cx="8763000" cy="7318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en-US" sz="2800" b="1" dirty="0">
                <a:solidFill>
                  <a:srgbClr val="0D0D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Department of </a:t>
            </a:r>
            <a:r>
              <a:rPr lang="en-IN" altLang="en-US" sz="2800" b="1" dirty="0">
                <a:solidFill>
                  <a:srgbClr val="0D0D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Computer Science an</a:t>
            </a:r>
            <a:r>
              <a:rPr lang="en-US" altLang="en-IN" sz="2800" b="1" dirty="0">
                <a:solidFill>
                  <a:srgbClr val="0D0D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 Engineering</a:t>
            </a:r>
            <a:endParaRPr lang="en-US" altLang="en-IN" sz="2800" b="1" dirty="0">
              <a:solidFill>
                <a:srgbClr val="0D0D4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439" name="TextBox 5"/>
          <p:cNvSpPr txBox="1"/>
          <p:nvPr/>
        </p:nvSpPr>
        <p:spPr>
          <a:xfrm>
            <a:off x="1752600" y="4224528"/>
            <a:ext cx="5905500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en-IN" altLang="en-US" sz="1700" b="1" dirty="0">
                <a:solidFill>
                  <a:srgbClr val="00321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Under the Supervision Of</a:t>
            </a:r>
            <a:endParaRPr lang="en-IN" altLang="en-US" sz="2000" b="1" dirty="0">
              <a:solidFill>
                <a:srgbClr val="00321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eaLnBrk="1" hangingPunct="1"/>
            <a:r>
              <a:rPr lang="en-IN" altLang="en-US" sz="1800" b="1" dirty="0">
                <a:solidFill>
                  <a:srgbClr val="00321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Yashpal Gupta S</a:t>
            </a:r>
            <a:endParaRPr lang="en-IN" altLang="en-US" sz="2000" b="1" dirty="0">
              <a:solidFill>
                <a:srgbClr val="003217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8440" name="Slide Number Placeholder 3"/>
          <p:cNvSpPr txBox="1">
            <a:spLocks noGrp="1"/>
          </p:cNvSpPr>
          <p:nvPr>
            <p:ph type="sldNum" sz="quarter" idx="4"/>
          </p:nvPr>
        </p:nvSpPr>
        <p:spPr>
          <a:xfrm>
            <a:off x="7946136" y="6144768"/>
            <a:ext cx="777240" cy="365760"/>
          </a:xfrm>
          <a:noFill/>
          <a:ln>
            <a:noFill/>
          </a:ln>
        </p:spPr>
        <p:txBody>
          <a:bodyPr anchor="ctr" anchorCtr="0"/>
          <a:lstStyle>
            <a:lvl1pPr marL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lvl="2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lvl="3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lvl="4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2000" dirty="0">
                <a:solidFill>
                  <a:srgbClr val="FEFFFF"/>
                </a:solidFill>
              </a:rPr>
            </a:fld>
            <a:endParaRPr lang="en-US" altLang="en-US" sz="2000" dirty="0">
              <a:solidFill>
                <a:srgbClr val="FEFFFF"/>
              </a:solidFill>
            </a:endParaRPr>
          </a:p>
        </p:txBody>
      </p:sp>
      <p:pic>
        <p:nvPicPr>
          <p:cNvPr id="2" name="Picture 1" descr="WhatsApp Image 2026-10-21 at 13.31.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-10160"/>
            <a:ext cx="2409825" cy="1162050"/>
          </a:xfrm>
          <a:prstGeom prst="rect">
            <a:avLst/>
          </a:prstGeom>
        </p:spPr>
      </p:pic>
      <p:pic>
        <p:nvPicPr>
          <p:cNvPr id="3" name="Picture 2" descr="WhatsApp Image 2026-10-21 at 13.31.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152400"/>
            <a:ext cx="2571750" cy="904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1673352" y="457200"/>
            <a:ext cx="7040880" cy="731520"/>
          </a:xfrm>
          <a:ln/>
        </p:spPr>
        <p:txBody>
          <a:bodyPr vert="horz" wrap="square" lIns="91440" tIns="45720" rIns="91440" bIns="45720" anchor="ctr" anchorCtr="0"/>
          <a:p>
            <a:pPr eaLnBrk="1" hangingPunct="1" algn="l"/>
            <a:r>
              <a:rPr sz="2800" b="1">
                <a:latin typeface="Calibri"/>
              </a:rPr>
              <a:t>Overview</a:t>
            </a:r>
            <a:endParaRPr lang="en-IN" altLang="en-US" b="1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950913" y="6165850"/>
            <a:ext cx="1066800" cy="369888"/>
          </a:xfrm>
          <a:noFill/>
        </p:spPr>
        <p:txBody>
          <a:bodyPr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5839E0-7EC2-48C7-B32E-2EBA9045D97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2898648" y="6108192"/>
            <a:ext cx="4873752" cy="365760"/>
          </a:xfrm>
          <a:noFill/>
        </p:spPr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62" name="Slide Number Placeholder 1"/>
          <p:cNvSpPr txBox="1">
            <a:spLocks noGrp="1"/>
          </p:cNvSpPr>
          <p:nvPr>
            <p:ph type="sldNum" sz="quarter" idx="4"/>
          </p:nvPr>
        </p:nvSpPr>
        <p:spPr>
          <a:xfrm>
            <a:off x="7946136" y="6144768"/>
            <a:ext cx="777240" cy="365760"/>
          </a:xfrm>
          <a:noFill/>
          <a:ln>
            <a:noFill/>
          </a:ln>
        </p:spPr>
        <p:txBody>
          <a:bodyPr anchor="ctr" anchorCtr="0"/>
          <a:lstStyle>
            <a:lvl1pPr marL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lvl="2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lvl="3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lvl="4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en-US" sz="900" dirty="0">
                <a:solidFill>
                  <a:srgbClr val="898989"/>
                </a:solidFill>
              </a:rPr>
            </a:fld>
            <a:r>
              <a:rPr lang="en-US" altLang="en-US" sz="900" dirty="0">
                <a:solidFill>
                  <a:srgbClr val="898989"/>
                </a:solidFill>
              </a:rPr>
              <a:t> of 13</a:t>
            </a:r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19463" name="TextBox 19462"/>
          <p:cNvSpPr txBox="1"/>
          <p:nvPr/>
        </p:nvSpPr>
        <p:spPr>
          <a:xfrm>
            <a:off x="1673352" y="1554480"/>
            <a:ext cx="5669280" cy="42062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155448" indent="-155448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700" b="0" i="0">
                <a:solidFill>
                  <a:srgbClr val="222B33"/>
                </a:solidFill>
                <a:latin typeface="Calibri"/>
              </a:rPr>
              <a:t>Abstract</a:t>
            </a:r>
          </a:p>
          <a:p>
            <a:pPr marL="155448" indent="-155448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700" b="0" i="0">
                <a:solidFill>
                  <a:srgbClr val="222B33"/>
                </a:solidFill>
                <a:latin typeface="Calibri"/>
              </a:rPr>
              <a:t>Project Objectives</a:t>
            </a:r>
          </a:p>
          <a:p>
            <a:pPr marL="155448" indent="-155448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700" b="0" i="0">
                <a:solidFill>
                  <a:srgbClr val="222B33"/>
                </a:solidFill>
                <a:latin typeface="Calibri"/>
              </a:rPr>
              <a:t>Requirement Specification &amp; Validation</a:t>
            </a:r>
          </a:p>
          <a:p>
            <a:pPr marL="155448" indent="-155448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700" b="0" i="0">
                <a:solidFill>
                  <a:srgbClr val="222B33"/>
                </a:solidFill>
                <a:latin typeface="Calibri"/>
              </a:rPr>
              <a:t>Innovation &amp; Potential Impact</a:t>
            </a:r>
          </a:p>
          <a:p>
            <a:pPr marL="155448" indent="-155448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700" b="0" i="0">
                <a:solidFill>
                  <a:srgbClr val="222B33"/>
                </a:solidFill>
                <a:latin typeface="Calibri"/>
              </a:rPr>
              <a:t>Literature Survey</a:t>
            </a:r>
          </a:p>
          <a:p>
            <a:pPr marL="155448" indent="-155448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700" b="0" i="0">
                <a:solidFill>
                  <a:srgbClr val="222B33"/>
                </a:solidFill>
                <a:latin typeface="Calibri"/>
              </a:rPr>
              <a:t>Research Gap</a:t>
            </a:r>
          </a:p>
          <a:p>
            <a:pPr marL="155448" indent="-155448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700" b="0" i="0">
                <a:solidFill>
                  <a:srgbClr val="222B33"/>
                </a:solidFill>
                <a:latin typeface="Calibri"/>
              </a:rPr>
              <a:t>High-Level Design (current and proposed final)</a:t>
            </a:r>
          </a:p>
          <a:p>
            <a:pPr marL="155448" indent="-155448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700" b="0" i="0">
                <a:solidFill>
                  <a:srgbClr val="222B33"/>
                </a:solidFill>
                <a:latin typeface="Calibri"/>
              </a:rPr>
              <a:t>Implementation Snapshot</a:t>
            </a:r>
          </a:p>
          <a:p>
            <a:pPr marL="155448" indent="-155448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700" b="0" i="0">
                <a:solidFill>
                  <a:srgbClr val="222B33"/>
                </a:solidFill>
                <a:latin typeface="Calibri"/>
              </a:rPr>
              <a:t>List of Deliverables</a:t>
            </a:r>
          </a:p>
          <a:p>
            <a:pPr marL="155448" indent="-155448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700" b="0" i="0">
                <a:solidFill>
                  <a:srgbClr val="222B33"/>
                </a:solidFill>
                <a:latin typeface="Calibri"/>
              </a:rPr>
              <a:t>References</a:t>
            </a:r>
          </a:p>
        </p:txBody>
      </p:sp>
      <p:sp>
        <p:nvSpPr>
          <p:cNvPr id="19464" name="TextBox 19463"/>
          <p:cNvSpPr txBox="1"/>
          <p:nvPr/>
        </p:nvSpPr>
        <p:spPr>
          <a:xfrm>
            <a:off x="7360920" y="1554480"/>
            <a:ext cx="1097280" cy="42062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555F68"/>
                </a:solidFill>
                <a:latin typeface="Calibri"/>
              </a:rPr>
              <a:t>3</a:t>
            </a:r>
          </a:p>
          <a:p>
            <a:pPr marL="0" indent="0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555F68"/>
                </a:solidFill>
                <a:latin typeface="Calibri"/>
              </a:rPr>
              <a:t>4</a:t>
            </a:r>
          </a:p>
          <a:p>
            <a:pPr marL="0" indent="0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555F68"/>
                </a:solidFill>
                <a:latin typeface="Calibri"/>
              </a:rPr>
              <a:t>5</a:t>
            </a:r>
          </a:p>
          <a:p>
            <a:pPr marL="0" indent="0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555F68"/>
                </a:solidFill>
                <a:latin typeface="Calibri"/>
              </a:rPr>
              <a:t>6</a:t>
            </a:r>
          </a:p>
          <a:p>
            <a:pPr marL="0" indent="0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555F68"/>
                </a:solidFill>
                <a:latin typeface="Calibri"/>
              </a:rPr>
              <a:t>7</a:t>
            </a:r>
          </a:p>
          <a:p>
            <a:pPr marL="0" indent="0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555F68"/>
                </a:solidFill>
                <a:latin typeface="Calibri"/>
              </a:rPr>
              <a:t>8</a:t>
            </a:r>
          </a:p>
          <a:p>
            <a:pPr marL="0" indent="0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555F68"/>
                </a:solidFill>
                <a:latin typeface="Calibri"/>
              </a:rPr>
              <a:t>9 – 10</a:t>
            </a:r>
          </a:p>
          <a:p>
            <a:pPr marL="0" indent="0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555F68"/>
                </a:solidFill>
                <a:latin typeface="Calibri"/>
              </a:rPr>
              <a:t>11</a:t>
            </a:r>
          </a:p>
          <a:p>
            <a:pPr marL="0" indent="0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555F68"/>
                </a:solidFill>
                <a:latin typeface="Calibri"/>
              </a:rPr>
              <a:t>12</a:t>
            </a:r>
          </a:p>
          <a:p>
            <a:pPr marL="0" indent="0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555F6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1673352" y="457200"/>
            <a:ext cx="7040880" cy="731520"/>
          </a:xfrm>
          <a:ln/>
        </p:spPr>
        <p:txBody>
          <a:bodyPr vert="horz" wrap="square" lIns="91440" tIns="45720" rIns="91440" bIns="45720" anchor="ctr" anchorCtr="0"/>
          <a:p>
            <a:pPr eaLnBrk="1" hangingPunct="1" algn="l"/>
            <a:r>
              <a:rPr sz="2800" b="1">
                <a:latin typeface="Calibri"/>
              </a:rPr>
              <a:t>Abstract</a:t>
            </a:r>
            <a:endParaRPr lang="en-IN" altLang="en-US" b="1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0484" name="Slide Number Placeholder 1"/>
          <p:cNvSpPr txBox="1">
            <a:spLocks noGrp="1"/>
          </p:cNvSpPr>
          <p:nvPr>
            <p:ph type="sldNum" sz="quarter" idx="4"/>
          </p:nvPr>
        </p:nvSpPr>
        <p:spPr>
          <a:xfrm>
            <a:off x="7946136" y="6144768"/>
            <a:ext cx="777240" cy="365760"/>
          </a:xfrm>
          <a:noFill/>
          <a:ln>
            <a:noFill/>
          </a:ln>
        </p:spPr>
        <p:txBody>
          <a:bodyPr anchor="ctr" anchorCtr="0"/>
          <a:lstStyle>
            <a:lvl1pPr marL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lvl="2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lvl="3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lvl="4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en-US" sz="900" dirty="0">
                <a:solidFill>
                  <a:srgbClr val="898989"/>
                </a:solidFill>
              </a:rPr>
            </a:fld>
            <a:r>
              <a:rPr lang="en-US" altLang="en-US" sz="900" dirty="0">
                <a:solidFill>
                  <a:srgbClr val="898989"/>
                </a:solidFill>
              </a:rPr>
              <a:t> of 13</a:t>
            </a:r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7" name="Date Placeholder 1"/>
          <p:cNvSpPr txBox="1">
            <a:spLocks noGrp="1"/>
          </p:cNvSpPr>
          <p:nvPr>
            <p:ph type="dt" sz="half" idx="2"/>
          </p:nvPr>
        </p:nvSpPr>
        <p:spPr>
          <a:xfrm>
            <a:off x="1943100" y="6156325"/>
            <a:ext cx="876300" cy="369888"/>
          </a:xfrm>
          <a:noFill/>
        </p:spPr>
        <p:txBody>
          <a:bodyPr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778DE5B-F44E-46D0-A94E-2009DE896E7E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2898648" y="6108192"/>
            <a:ext cx="4873752" cy="365760"/>
          </a:xfrm>
          <a:noFill/>
        </p:spPr>
        <p:txBody>
          <a:bodyPr lIns="91440" tIns="45720" rIns="91440" bIns="45720" rtlCol="0" anchor="ctr"/>
          <a:lstStyle>
            <a:lvl1pPr algn="ctr"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485" name="TextBox 20484"/>
          <p:cNvSpPr txBox="1"/>
          <p:nvPr/>
        </p:nvSpPr>
        <p:spPr>
          <a:xfrm>
            <a:off x="914400" y="1325880"/>
            <a:ext cx="7863840" cy="2926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222B33"/>
                </a:solidFill>
                <a:latin typeface="Calibri"/>
              </a:rPr>
              <a:t>Financial markets react unevenly to macroeconomic shocks, yet existing Indian market datasets cover normal trading periods and none isolates and labels portfolio-level drawdown during crisis windows. This project builds NiftyStress-44, an audited benchmark of sector-level portfolio risk across 11 NSE sectors during four major macroeconomic stress events in Indian markets (2020–2023): the COVID-19 crash, Russia–Ukraine shock, RBI rate-hike cycle, and US Fed tightening. For each sector portfolio and event window, we compute Maximum Drawdown (MDD), Value at Risk (VaR 95%), recovery days (both window-censored and extended full-horizon), and Sharpe ratio drop relative to a 90-day pre-stress baseline. We assign rule-based High, Medium, and Low risk labels from MDD thresholds. Crucially, we identify and resolve circular target leakage in baseline machine learning, achieving 61.4%–70.5% leak-free Random Forest accuracy (vs 97.7% target-leaked), and deliver a full-stack interactive research dashboard, REST API, and 29 automated tests.</a:t>
            </a:r>
            <a:r>
              <a:rPr sz="1350" b="1" i="0">
                <a:solidFill>
                  <a:srgbClr val="222B33"/>
                </a:solidFill>
                <a:latin typeface="Calibri"/>
              </a:rPr>
              <a:t/>
            </a:r>
            <a:r>
              <a:rPr sz="1350" b="0" i="0">
                <a:solidFill>
                  <a:srgbClr val="222B33"/>
                </a:solidFill>
                <a:latin typeface="Calibri"/>
              </a:rPr>
              <a:t/>
            </a:r>
          </a:p>
        </p:txBody>
      </p:sp>
      <p:sp>
        <p:nvSpPr>
          <p:cNvPr id="20486" name="TextBox 20485"/>
          <p:cNvSpPr txBox="1"/>
          <p:nvPr/>
        </p:nvSpPr>
        <p:spPr>
          <a:xfrm>
            <a:off x="914400" y="3703320"/>
            <a:ext cx="786384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555F68"/>
                </a:solidFill>
                <a:latin typeface="Calibri"/>
              </a:rPr>
              <a:t>Keywords: portfolio risk, maximum drawdown, Value at Risk, macro stress events, NSE sectors, risk labeling, target leakage, Random Forest, full-stack dashboard</a:t>
            </a:r>
            <a:r>
              <a:rPr sz="1150" b="0" i="0">
                <a:solidFill>
                  <a:srgbClr val="555F68"/>
                </a:solidFill>
                <a:latin typeface="Calibri"/>
              </a:rPr>
              <a:t/>
            </a:r>
          </a:p>
        </p:txBody>
      </p:sp>
      <p:sp>
        <p:nvSpPr>
          <p:cNvPr id="20487" name="Rounded Rectangle 20486"/>
          <p:cNvSpPr/>
          <p:nvPr/>
        </p:nvSpPr>
        <p:spPr>
          <a:xfrm>
            <a:off x="914400" y="4526280"/>
            <a:ext cx="1444752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265991"/>
                </a:solidFill>
                <a:latin typeface="Calibri"/>
              </a:rPr>
              <a:t>4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55F68"/>
                </a:solidFill>
                <a:latin typeface="Calibri"/>
              </a:rPr>
              <a:t>macro stress events</a:t>
            </a:r>
          </a:p>
        </p:txBody>
      </p:sp>
      <p:sp>
        <p:nvSpPr>
          <p:cNvPr id="20488" name="Rounded Rectangle 20487"/>
          <p:cNvSpPr/>
          <p:nvPr/>
        </p:nvSpPr>
        <p:spPr>
          <a:xfrm>
            <a:off x="2519172" y="4526280"/>
            <a:ext cx="1444752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265991"/>
                </a:solidFill>
                <a:latin typeface="Calibri"/>
              </a:rPr>
              <a:t>11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55F68"/>
                </a:solidFill>
                <a:latin typeface="Calibri"/>
              </a:rPr>
              <a:t>NSE sectors</a:t>
            </a:r>
          </a:p>
        </p:txBody>
      </p:sp>
      <p:sp>
        <p:nvSpPr>
          <p:cNvPr id="20489" name="Rounded Rectangle 20488"/>
          <p:cNvSpPr/>
          <p:nvPr/>
        </p:nvSpPr>
        <p:spPr>
          <a:xfrm>
            <a:off x="4123944" y="4526280"/>
            <a:ext cx="1444752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265991"/>
                </a:solidFill>
                <a:latin typeface="Calibri"/>
              </a:rPr>
              <a:t>44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55F68"/>
                </a:solidFill>
                <a:latin typeface="Calibri"/>
              </a:rPr>
              <a:t>labeled records</a:t>
            </a:r>
          </a:p>
        </p:txBody>
      </p:sp>
      <p:sp>
        <p:nvSpPr>
          <p:cNvPr id="20490" name="Rounded Rectangle 20489"/>
          <p:cNvSpPr/>
          <p:nvPr/>
        </p:nvSpPr>
        <p:spPr>
          <a:xfrm>
            <a:off x="5728716" y="4526280"/>
            <a:ext cx="1444752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265991"/>
                </a:solidFill>
                <a:latin typeface="Calibri"/>
              </a:rPr>
              <a:t>4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55F68"/>
                </a:solidFill>
                <a:latin typeface="Calibri"/>
              </a:rPr>
              <a:t>risk metrics</a:t>
            </a:r>
          </a:p>
        </p:txBody>
      </p:sp>
      <p:sp>
        <p:nvSpPr>
          <p:cNvPr id="20491" name="Rounded Rectangle 20490"/>
          <p:cNvSpPr/>
          <p:nvPr/>
        </p:nvSpPr>
        <p:spPr>
          <a:xfrm>
            <a:off x="7333488" y="4526280"/>
            <a:ext cx="1444752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265991"/>
                </a:solidFill>
                <a:latin typeface="Calibri"/>
              </a:rPr>
              <a:t>3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55F68"/>
                </a:solidFill>
                <a:latin typeface="Calibri"/>
              </a:rPr>
              <a:t>risk classes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57200"/>
            <a:ext cx="7040880" cy="731520"/>
          </a:xfrm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l" defTabSz="457200" rtl="0" eaLnBrk="1" fontAlgn="auto" latinLnBrk="0" hangingPunct="1"/>
            <a:r>
              <a:rPr sz="2800" b="1">
                <a:latin typeface="Calibri"/>
              </a:rPr>
              <a:t>Project Objectives</a:t>
            </a: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21507" name="Slide Number Placeholder 2"/>
          <p:cNvSpPr txBox="1">
            <a:spLocks noGrp="1"/>
          </p:cNvSpPr>
          <p:nvPr>
            <p:ph type="sldNum" sz="quarter" idx="4"/>
          </p:nvPr>
        </p:nvSpPr>
        <p:spPr>
          <a:xfrm>
            <a:off x="7946136" y="6144768"/>
            <a:ext cx="777240" cy="365760"/>
          </a:xfrm>
          <a:noFill/>
          <a:ln>
            <a:noFill/>
          </a:ln>
        </p:spPr>
        <p:txBody>
          <a:bodyPr anchor="ctr" anchorCtr="0"/>
          <a:lstStyle>
            <a:lvl1pPr marL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lvl="2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lvl="3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lvl="4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en-US" sz="900" dirty="0">
                <a:solidFill>
                  <a:srgbClr val="898989"/>
                </a:solidFill>
              </a:rPr>
            </a:fld>
            <a:r>
              <a:rPr lang="en-US" altLang="en-US" sz="900" dirty="0">
                <a:solidFill>
                  <a:srgbClr val="898989"/>
                </a:solidFill>
              </a:rPr>
              <a:t> of 13</a:t>
            </a:r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7" name="Date Placeholder 1"/>
          <p:cNvSpPr txBox="1">
            <a:spLocks noGrp="1"/>
          </p:cNvSpPr>
          <p:nvPr>
            <p:ph type="dt" sz="half" idx="2"/>
          </p:nvPr>
        </p:nvSpPr>
        <p:spPr>
          <a:xfrm>
            <a:off x="1943100" y="6156325"/>
            <a:ext cx="876300" cy="369888"/>
          </a:xfrm>
          <a:noFill/>
        </p:spPr>
        <p:txBody>
          <a:bodyPr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FB05B1B-9762-4603-A45F-B5AA1F1781ED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2898648" y="6108192"/>
            <a:ext cx="4873752" cy="365760"/>
          </a:xfrm>
          <a:noFill/>
        </p:spPr>
        <p:txBody>
          <a:bodyPr lIns="91440" tIns="45720" rIns="91440" bIns="45720" rtlCol="0" anchor="ctr"/>
          <a:lstStyle>
            <a:lvl1pPr algn="ctr"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508" name="TextBox 21507"/>
          <p:cNvSpPr txBox="1"/>
          <p:nvPr/>
        </p:nvSpPr>
        <p:spPr>
          <a:xfrm>
            <a:off x="868680" y="1280160"/>
            <a:ext cx="3977639" cy="46634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581AA"/>
                </a:solidFill>
                <a:latin typeface="Calibri"/>
              </a:rPr>
              <a:t>Purpose and Objectives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222B33"/>
                </a:solidFill>
                <a:latin typeface="Calibri"/>
              </a:rPr>
              <a:t>Purpose:</a:t>
            </a:r>
            <a:r>
              <a:rPr sz="1300" b="0" i="0">
                <a:solidFill>
                  <a:srgbClr val="222B33"/>
                </a:solidFill>
                <a:latin typeface="Calibri"/>
              </a:rPr>
              <a:t> build a labeled portfolio-risk benchmark for Indian sectors during four macro stress windows (2020–2023), usable for training and benchmarking risk classifiers.</a:t>
            </a:r>
          </a:p>
          <a:p>
            <a:pPr marL="155448" indent="-15544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300" b="1" i="0">
                <a:solidFill>
                  <a:srgbClr val="222B33"/>
                </a:solidFill>
                <a:latin typeface="Calibri"/>
              </a:rPr>
              <a:t>O1 Analyse downside risk behaviour of 11 NSE sectors across 4 macro stress events</a:t>
            </a:r>
            <a:r>
              <a:rPr sz="1300" b="0" i="0">
                <a:solidFill>
                  <a:srgbClr val="222B33"/>
                </a:solidFill>
                <a:latin typeface="Calibri"/>
              </a:rPr>
              <a:t/>
            </a:r>
          </a:p>
          <a:p>
            <a:pPr marL="155448" indent="-15544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300" b="1" i="0">
                <a:solidFill>
                  <a:srgbClr val="222B33"/>
                </a:solidFill>
                <a:latin typeface="Calibri"/>
              </a:rPr>
              <a:t>O2 Compute MDD, VaR (95%), uncensored recovery days, and 90-day baseline Sharpe drop</a:t>
            </a:r>
            <a:r>
              <a:rPr sz="1300" b="0" i="0">
                <a:solidFill>
                  <a:srgbClr val="222B33"/>
                </a:solidFill>
                <a:latin typeface="Calibri"/>
              </a:rPr>
              <a:t/>
            </a:r>
          </a:p>
          <a:p>
            <a:pPr marL="155448" indent="-15544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300" b="1" i="0">
                <a:solidFill>
                  <a:srgbClr val="222B33"/>
                </a:solidFill>
                <a:latin typeface="Calibri"/>
              </a:rPr>
              <a:t>O3 Generate certified NiftyStress-44: 44 labeled sector–event records &amp; supervisory matrix</a:t>
            </a:r>
            <a:r>
              <a:rPr sz="1300" b="0" i="0">
                <a:solidFill>
                  <a:srgbClr val="222B33"/>
                </a:solidFill>
                <a:latin typeface="Calibri"/>
              </a:rPr>
              <a:t/>
            </a:r>
          </a:p>
          <a:p>
            <a:pPr marL="155448" indent="-15544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300" b="1" i="0">
                <a:solidFill>
                  <a:srgbClr val="222B33"/>
                </a:solidFill>
                <a:latin typeface="Calibri"/>
              </a:rPr>
              <a:t>O4 Develop leak-free Random Forest baseline and evaluate out-of-regime crisis transferability</a:t>
            </a:r>
            <a:r>
              <a:rPr sz="1300" b="0" i="0">
                <a:solidFill>
                  <a:srgbClr val="222B33"/>
                </a:solidFill>
                <a:latin typeface="Calibri"/>
              </a:rPr>
              <a:t/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581AA"/>
                </a:solidFill>
                <a:latin typeface="Calibri"/>
              </a:rPr>
              <a:t>Problem and Relevance</a:t>
            </a:r>
          </a:p>
          <a:p>
            <a:pPr marL="155448" indent="-15544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300" b="0" i="0">
                <a:solidFill>
                  <a:srgbClr val="222B33"/>
                </a:solidFill>
                <a:latin typeface="Calibri"/>
              </a:rPr>
              <a:t>Indian datasets cover normal trading only; none labels portfolio drawdown inside crisis windows</a:t>
            </a:r>
          </a:p>
          <a:p>
            <a:pPr marL="155448" indent="-15544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300" b="0" i="0">
                <a:solidFill>
                  <a:srgbClr val="222B33"/>
                </a:solidFill>
                <a:latin typeface="Calibri"/>
              </a:rPr>
              <a:t>No sector × stress-event label matrix exists for NSE; MDD, VaR and recovery time are rarely combined</a:t>
            </a:r>
          </a:p>
          <a:p>
            <a:pPr marL="155448" indent="-15544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300" b="0" i="0">
                <a:solidFill>
                  <a:srgbClr val="222B33"/>
                </a:solidFill>
                <a:latin typeface="Calibri"/>
              </a:rPr>
              <a:t>A reproducible benchmark lets researchers compare sector resilience and train risk classifiers on crisis behaviour</a:t>
            </a:r>
          </a:p>
        </p:txBody>
      </p:sp>
      <p:sp>
        <p:nvSpPr>
          <p:cNvPr id="21509" name="TextBox 21508"/>
          <p:cNvSpPr txBox="1"/>
          <p:nvPr/>
        </p:nvSpPr>
        <p:spPr>
          <a:xfrm>
            <a:off x="4983480" y="1280160"/>
            <a:ext cx="3840480" cy="46634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581AA"/>
                </a:solidFill>
                <a:latin typeface="Calibri"/>
              </a:rPr>
              <a:t>Scope Boundaries</a:t>
            </a:r>
          </a:p>
          <a:p>
            <a:pPr marL="155448" indent="-15544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300" b="1" i="0">
                <a:solidFill>
                  <a:srgbClr val="222B33"/>
                </a:solidFill>
                <a:latin typeface="Calibri"/>
              </a:rPr>
              <a:t>In scope:</a:t>
            </a:r>
            <a:r>
              <a:rPr sz="1300" b="0" i="0">
                <a:solidFill>
                  <a:srgbClr val="222B33"/>
                </a:solidFill>
                <a:latin typeface="Calibri"/>
              </a:rPr>
              <a:t> 4 windows (COVID-19, Russia–Ukraine, RBI rate hikes, US Fed tightening); 11 NSE sectors; daily public OHLCV 2019–2024; 3-class MDD-based labels; Random Forest baseline</a:t>
            </a:r>
          </a:p>
          <a:p>
            <a:pPr marL="155448" indent="-15544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300" b="1" i="0">
                <a:solidFill>
                  <a:srgbClr val="222B33"/>
                </a:solidFill>
                <a:latin typeface="Calibri"/>
              </a:rPr>
              <a:t>Out of scope:</a:t>
            </a:r>
            <a:r>
              <a:rPr sz="1300" b="0" i="0">
                <a:solidFill>
                  <a:srgbClr val="222B33"/>
                </a:solidFill>
                <a:latin typeface="Calibri"/>
              </a:rPr>
              <a:t> causal attribution of losses to a single event (windows overlap); backtesting, which the parent system node O3 does using this dataset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581AA"/>
                </a:solidFill>
                <a:latin typeface="Calibri"/>
              </a:rPr>
              <a:t>Key Deliverables</a:t>
            </a:r>
          </a:p>
          <a:p>
            <a:pPr marL="155448" indent="-15544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300" b="0" i="0">
                <a:solidFill>
                  <a:srgbClr val="222B33"/>
                </a:solidFill>
                <a:latin typeface="Calibri"/>
              </a:rPr>
              <a:t>NiftyStress44_final.csv (44 records, 9 official cols) &amp; NiftyStress44_extended.csv (16 cols)</a:t>
            </a:r>
          </a:p>
          <a:p>
            <a:pPr marL="155448" indent="-15544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300" b="0" i="0">
                <a:solidFill>
                  <a:srgbClr val="222B33"/>
                </a:solidFill>
                <a:latin typeface="Calibri"/>
              </a:rPr>
              <a:t>risk_label_matrix.xlsx (11×4), data_dictionary.xlsx, domain_validation_notes.xlsx</a:t>
            </a:r>
          </a:p>
          <a:p>
            <a:pPr marL="155448" indent="-15544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300" b="0" i="0">
                <a:solidFill>
                  <a:srgbClr val="222B33"/>
                </a:solidFill>
                <a:latin typeface="Calibri"/>
              </a:rPr>
              <a:t>FastAPI backend, React dashboard (port 8000), 29 automated tests, and GitHub repository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1673352" y="457200"/>
            <a:ext cx="7040880" cy="73152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sz="2600" b="1">
                <a:latin typeface="Calibri"/>
              </a:rPr>
              <a:t>Requirement Specification &amp; Validation</a:t>
            </a:r>
            <a:endParaRPr lang="en-IN" alt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2532" name="Slide Number Placeholder 1"/>
          <p:cNvSpPr txBox="1">
            <a:spLocks noGrp="1"/>
          </p:cNvSpPr>
          <p:nvPr>
            <p:ph type="sldNum" sz="quarter" idx="4"/>
          </p:nvPr>
        </p:nvSpPr>
        <p:spPr>
          <a:xfrm>
            <a:off x="7946136" y="6144768"/>
            <a:ext cx="777240" cy="365760"/>
          </a:xfrm>
          <a:noFill/>
          <a:ln>
            <a:noFill/>
          </a:ln>
        </p:spPr>
        <p:txBody>
          <a:bodyPr anchor="ctr" anchorCtr="0"/>
          <a:lstStyle>
            <a:lvl1pPr marL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lvl="2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lvl="3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lvl="4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en-US" sz="900" dirty="0">
                <a:solidFill>
                  <a:srgbClr val="898989"/>
                </a:solidFill>
              </a:rPr>
            </a:fld>
            <a:r>
              <a:rPr lang="en-US" altLang="en-US" sz="900" dirty="0">
                <a:solidFill>
                  <a:srgbClr val="898989"/>
                </a:solidFill>
              </a:rPr>
              <a:t> of 13</a:t>
            </a:r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7" name="Date Placeholder 1"/>
          <p:cNvSpPr txBox="1">
            <a:spLocks noGrp="1"/>
          </p:cNvSpPr>
          <p:nvPr>
            <p:ph type="dt" sz="half" idx="2"/>
          </p:nvPr>
        </p:nvSpPr>
        <p:spPr>
          <a:xfrm>
            <a:off x="1943100" y="6156325"/>
            <a:ext cx="876300" cy="369888"/>
          </a:xfrm>
          <a:noFill/>
        </p:spPr>
        <p:txBody>
          <a:bodyPr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CA46945-D6FD-4D2B-A870-C7080251F0A1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2898648" y="6108192"/>
            <a:ext cx="4873752" cy="365760"/>
          </a:xfrm>
          <a:noFill/>
        </p:spPr>
        <p:txBody>
          <a:bodyPr lIns="91440" tIns="45720" rIns="91440" bIns="45720" rtlCol="0" anchor="ctr"/>
          <a:lstStyle>
            <a:lvl1pPr algn="ctr"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533" name="TextBox 22532"/>
          <p:cNvSpPr txBox="1"/>
          <p:nvPr/>
        </p:nvSpPr>
        <p:spPr>
          <a:xfrm>
            <a:off x="868680" y="1234440"/>
            <a:ext cx="4114800" cy="47548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581AA"/>
                </a:solidFill>
                <a:latin typeface="Calibri"/>
              </a:rPr>
              <a:t>Target users</a:t>
            </a:r>
          </a:p>
          <a:p>
            <a:pPr marL="155448" indent="-15544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150" b="0" i="0">
                <a:solidFill>
                  <a:srgbClr val="222B33"/>
                </a:solidFill>
                <a:latin typeface="Calibri"/>
              </a:rPr>
              <a:t>Financial-ML researchers building crisis-period risk classifiers</a:t>
            </a:r>
          </a:p>
          <a:p>
            <a:pPr marL="155448" indent="-15544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150" b="0" i="0">
                <a:solidFill>
                  <a:srgbClr val="222B33"/>
                </a:solidFill>
                <a:latin typeface="Calibri"/>
              </a:rPr>
              <a:t>Portfolio and risk analysts comparing sector resilience</a:t>
            </a:r>
          </a:p>
          <a:p>
            <a:pPr marL="155448" indent="-15544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150" b="0" i="0">
                <a:solidFill>
                  <a:srgbClr val="222B33"/>
                </a:solidFill>
                <a:latin typeface="Calibri"/>
              </a:rPr>
              <a:t>Parent system backtesting node (O3), which uses the dataset as a stress-period benchmark</a:t>
            </a:r>
          </a:p>
          <a:p>
            <a:pPr marL="0" indent="0" algn="l">
              <a:lnSpc>
                <a:spcPct val="100000"/>
              </a:lnSpc>
              <a:spcBef>
                <a:spcPts val="70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581AA"/>
                </a:solidFill>
                <a:latin typeface="Calibri"/>
              </a:rPr>
              <a:t>Tech / tools</a:t>
            </a:r>
          </a:p>
          <a:p>
            <a:pPr marL="155448" indent="-15544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150" b="0" i="0">
                <a:solidFill>
                  <a:srgbClr val="222B33"/>
                </a:solidFill>
                <a:latin typeface="Calibri"/>
              </a:rPr>
              <a:t>Python, pandas, NumPy, SciPy, yfinance, scikit-learn; Excel for validation; GitHub and Zenodo for release</a:t>
            </a:r>
          </a:p>
          <a:p>
            <a:pPr marL="0" indent="0" algn="l">
              <a:lnSpc>
                <a:spcPct val="100000"/>
              </a:lnSpc>
              <a:spcBef>
                <a:spcPts val="70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581AA"/>
                </a:solidFill>
                <a:latin typeface="Calibri"/>
              </a:rPr>
              <a:t>Assumptions &amp; constraints</a:t>
            </a:r>
          </a:p>
          <a:p>
            <a:pPr marL="155448" indent="-15544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150" b="0" i="0">
                <a:solidFill>
                  <a:srgbClr val="222B33"/>
                </a:solidFill>
                <a:latin typeface="Calibri"/>
              </a:rPr>
              <a:t>Public OHLCV only; sector portfolio = sector ETF or equal-weighted constituent stocks</a:t>
            </a:r>
          </a:p>
          <a:p>
            <a:pPr marL="155448" indent="-15544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150" b="0" i="0">
                <a:solidFill>
                  <a:srgbClr val="222B33"/>
                </a:solidFill>
                <a:latin typeface="Calibri"/>
              </a:rPr>
              <a:t>Forward-fill at most 2 missing trading days; flag windows with more than 2</a:t>
            </a:r>
          </a:p>
          <a:p>
            <a:pPr marL="155448" indent="-15544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150" b="0" i="0">
                <a:solidFill>
                  <a:srgbClr val="222B33"/>
                </a:solidFill>
                <a:latin typeface="Calibri"/>
              </a:rPr>
              <a:t>recovery_days = NaN if the sector has not recovered by window end</a:t>
            </a:r>
          </a:p>
          <a:p>
            <a:pPr marL="155448" indent="-15544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150" b="0" i="0">
                <a:solidFill>
                  <a:srgbClr val="222B33"/>
                </a:solidFill>
                <a:latin typeface="Calibri"/>
              </a:rPr>
              <a:t>2022–2023 windows overlap, so results compare event windows and do not prove causality</a:t>
            </a:r>
          </a:p>
          <a:p>
            <a:pPr marL="155448" indent="-15544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150" b="0" i="0">
                <a:solidFill>
                  <a:srgbClr val="222B33"/>
                </a:solidFill>
                <a:latin typeface="Calibri"/>
              </a:rPr>
              <a:t>44 records is small: the classifier is an exploratory baseline. No GPU needed; 6-week plan</a:t>
            </a:r>
          </a:p>
        </p:txBody>
      </p:sp>
      <p:sp>
        <p:nvSpPr>
          <p:cNvPr id="22534" name="TextBox 22533"/>
          <p:cNvSpPr txBox="1"/>
          <p:nvPr/>
        </p:nvSpPr>
        <p:spPr>
          <a:xfrm>
            <a:off x="5120640" y="1234440"/>
            <a:ext cx="365760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250" b="1" i="0">
                <a:solidFill>
                  <a:srgbClr val="1581AA"/>
                </a:solidFill>
                <a:latin typeface="Calibri"/>
              </a:rPr>
              <a:t>Expected outcomes and goals (targets)</a:t>
            </a:r>
          </a:p>
        </p:txBody>
      </p:sp>
      <p:graphicFrame>
        <p:nvGraphicFramePr>
          <p:cNvPr id="22535" name="Table 22534"/>
          <p:cNvGraphicFramePr>
            <a:graphicFrameLocks noGrp="1"/>
          </p:cNvGraphicFramePr>
          <p:nvPr/>
        </p:nvGraphicFramePr>
        <p:xfrm>
          <a:off x="5120640" y="1572768"/>
          <a:ext cx="3657600" cy="1728216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600200"/>
                <a:gridCol w="2057400"/>
              </a:tblGrid>
              <a:tr h="246888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54864" marT="36576" marR="54864" marB="36576" anchor="ctr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54864" marT="36576" marR="54864" marB="36576" anchor="ctr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>
                          <a:solidFill>
                            <a:srgbClr val="222B33"/>
                          </a:solidFill>
                          <a:latin typeface="Calibri"/>
                        </a:rPr>
                        <a:t>Stress windows covered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222B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>
                          <a:solidFill>
                            <a:srgbClr val="222B33"/>
                          </a:solidFill>
                          <a:latin typeface="Calibri"/>
                        </a:rPr>
                        <a:t>Sectors covered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222B33"/>
                          </a:solidFill>
                          <a:latin typeface="Calibri"/>
                        </a:rPr>
                        <a:t>11 NSE sectors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>
                          <a:solidFill>
                            <a:srgbClr val="222B33"/>
                          </a:solidFill>
                          <a:latin typeface="Calibri"/>
                        </a:rPr>
                        <a:t>Final labeled records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222B33"/>
                          </a:solidFill>
                          <a:latin typeface="Calibri"/>
                        </a:rPr>
                        <a:t>44 (11 × 4)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>
                          <a:solidFill>
                            <a:srgbClr val="222B33"/>
                          </a:solidFill>
                          <a:latin typeface="Calibri"/>
                        </a:rPr>
                        <a:t>Risk metric coverage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222B33"/>
                          </a:solidFill>
                          <a:latin typeface="Calibri"/>
                        </a:rPr>
                        <a:t>MDD, VaR 95%, recovery days, Sharpe drop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t>Baseline ML accuracy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61.4% (Leak-Free Standard) / 70.5% (Extended) vs 97.7% (Target-Leaked)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t>Automated test suite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29 passed / 29 tests (100% pytest pass rate covering math &amp; API)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</a:tr>
            </a:tbl>
          </a:graphicData>
        </a:graphic>
      </p:graphicFrame>
      <p:sp>
        <p:nvSpPr>
          <p:cNvPr id="22536" name="TextBox 22535"/>
          <p:cNvSpPr txBox="1"/>
          <p:nvPr/>
        </p:nvSpPr>
        <p:spPr>
          <a:xfrm>
            <a:off x="5120640" y="3657600"/>
            <a:ext cx="3657600" cy="22860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250" b="1" i="0">
                <a:solidFill>
                  <a:srgbClr val="1581AA"/>
                </a:solidFill>
                <a:latin typeface="Calibri"/>
              </a:rPr>
              <a:t>Validation plan</a:t>
            </a:r>
          </a:p>
          <a:p>
            <a:pPr marL="155448" indent="-15544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100" b="0" i="0">
                <a:solidFill>
                  <a:srgbClr val="222B33"/>
                </a:solidFill>
                <a:latin typeface="Calibri"/>
              </a:rPr>
              <a:t>Each window shows a peak-to-trough fall of at least 5% in Nifty 50</a:t>
            </a:r>
          </a:p>
          <a:p>
            <a:pPr marL="155448" indent="-15544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100" b="0" i="0">
                <a:solidFill>
                  <a:srgbClr val="222B33"/>
                </a:solidFill>
                <a:latin typeface="Calibri"/>
              </a:rPr>
              <a:t>COVID MDD cross-checked with published NSE index drawdown</a:t>
            </a:r>
          </a:p>
          <a:p>
            <a:pPr marL="155448" indent="-15544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100" b="0" i="0">
                <a:solidFill>
                  <a:srgbClr val="222B33"/>
                </a:solidFill>
                <a:latin typeface="Calibri"/>
              </a:rPr>
              <a:t>Labels compared with domain knowledge (e.g. Banking High in COVID)</a:t>
            </a:r>
          </a:p>
          <a:p>
            <a:pPr marL="155448" indent="-15544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100" b="0" i="0">
                <a:solidFill>
                  <a:srgbClr val="222B33"/>
                </a:solidFill>
                <a:latin typeface="Calibri"/>
              </a:rPr>
              <a:t>Domain checks: 100% domain agreement on qualitative notes across all 11 sectors</a:t>
            </a:r>
          </a:p>
          <a:p>
            <a:pPr marL="155448" indent="-15544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81AA"/>
              </a:buClr>
              <a:buFont typeface="Arial"/>
              <a:buChar char="•"/>
            </a:pPr>
            <a:r>
              <a:rPr sz="1100" b="0" i="0">
                <a:solidFill>
                  <a:srgbClr val="222B33"/>
                </a:solidFill>
                <a:latin typeface="Calibri"/>
              </a:rPr>
              <a:t>Baseline: Leak-free 3-fold CV + Leave-One-Crisis-Out GroupKFold (45.5% out-of-regime)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1673352" y="457200"/>
            <a:ext cx="7040880" cy="731520"/>
          </a:xfrm>
          <a:ln/>
        </p:spPr>
        <p:txBody>
          <a:bodyPr vert="horz" wrap="square" lIns="91440" tIns="45720" rIns="91440" bIns="45720" anchor="ctr" anchorCtr="0"/>
          <a:p>
            <a:pPr eaLnBrk="1" hangingPunct="1" algn="l"/>
            <a:r>
              <a:rPr sz="2800" b="1">
                <a:latin typeface="Calibri"/>
              </a:rPr>
              <a:t>Innovation &amp; Potential Impact</a:t>
            </a:r>
            <a:endParaRPr lang="en-IN" alt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3556" name="Slide Number Placeholder 1"/>
          <p:cNvSpPr txBox="1">
            <a:spLocks noGrp="1"/>
          </p:cNvSpPr>
          <p:nvPr>
            <p:ph type="sldNum" sz="quarter" idx="4"/>
          </p:nvPr>
        </p:nvSpPr>
        <p:spPr>
          <a:xfrm>
            <a:off x="7946136" y="6144768"/>
            <a:ext cx="777240" cy="365760"/>
          </a:xfrm>
          <a:noFill/>
          <a:ln>
            <a:noFill/>
          </a:ln>
        </p:spPr>
        <p:txBody>
          <a:bodyPr anchor="ctr" anchorCtr="0"/>
          <a:lstStyle>
            <a:lvl1pPr marL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lvl="2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lvl="3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lvl="4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en-US" sz="900" dirty="0">
                <a:solidFill>
                  <a:srgbClr val="898989"/>
                </a:solidFill>
              </a:rPr>
            </a:fld>
            <a:r>
              <a:rPr lang="en-US" altLang="en-US" sz="900" dirty="0">
                <a:solidFill>
                  <a:srgbClr val="898989"/>
                </a:solidFill>
              </a:rPr>
              <a:t> of 13</a:t>
            </a:r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7" name="Date Placeholder 1"/>
          <p:cNvSpPr txBox="1">
            <a:spLocks noGrp="1"/>
          </p:cNvSpPr>
          <p:nvPr>
            <p:ph type="dt" sz="half" idx="2"/>
          </p:nvPr>
        </p:nvSpPr>
        <p:spPr>
          <a:xfrm>
            <a:off x="1943100" y="6156325"/>
            <a:ext cx="876300" cy="369888"/>
          </a:xfrm>
          <a:noFill/>
        </p:spPr>
        <p:txBody>
          <a:bodyPr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66F013C-0AF5-409F-B760-D3BF1868ADB5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2898648" y="6108192"/>
            <a:ext cx="4873752" cy="365760"/>
          </a:xfrm>
          <a:noFill/>
        </p:spPr>
        <p:txBody>
          <a:bodyPr lIns="91440" tIns="45720" rIns="91440" bIns="45720" rtlCol="0" anchor="ctr"/>
          <a:lstStyle>
            <a:lvl1pPr algn="ctr"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557" name="Rounded Rectangle 23556"/>
          <p:cNvSpPr/>
          <p:nvPr/>
        </p:nvSpPr>
        <p:spPr>
          <a:xfrm>
            <a:off x="868680" y="1280160"/>
            <a:ext cx="3840480" cy="1069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50" b="1" i="0">
                <a:solidFill>
                  <a:srgbClr val="1581AA"/>
                </a:solidFill>
                <a:latin typeface="Calibri"/>
              </a:rPr>
              <a:t>Innovation aspects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222B33"/>
                </a:solidFill>
                <a:latin typeface="Calibri"/>
              </a:rPr>
              <a:t>Proposed first public crisis-focused sector × event benchmark: MDD, VaR (95%), recovery days and Sharpe drop in one dataset, with standardized High / Medium / Low labels.</a:t>
            </a:r>
          </a:p>
        </p:txBody>
      </p:sp>
      <p:sp>
        <p:nvSpPr>
          <p:cNvPr id="23558" name="Rounded Rectangle 23557"/>
          <p:cNvSpPr/>
          <p:nvPr/>
        </p:nvSpPr>
        <p:spPr>
          <a:xfrm>
            <a:off x="4892040" y="1280160"/>
            <a:ext cx="3840480" cy="1069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50" b="1" i="0">
                <a:solidFill>
                  <a:srgbClr val="1581AA"/>
                </a:solidFill>
                <a:latin typeface="Calibri"/>
              </a:rPr>
              <a:t>Differentiators from existing solutions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222B33"/>
                </a:solidFill>
                <a:latin typeface="Calibri"/>
              </a:rPr>
              <a:t>Normal-period OHLCV datasets (Kaggle, Mendeley) have no crisis windows or labels; spillover, optimisation and corporate-risk studies give no sector drawdown labels.</a:t>
            </a:r>
          </a:p>
        </p:txBody>
      </p:sp>
      <p:sp>
        <p:nvSpPr>
          <p:cNvPr id="23559" name="Rounded Rectangle 23558"/>
          <p:cNvSpPr/>
          <p:nvPr/>
        </p:nvSpPr>
        <p:spPr>
          <a:xfrm>
            <a:off x="868680" y="2459736"/>
            <a:ext cx="3840480" cy="1069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50" b="1" i="0">
                <a:solidFill>
                  <a:srgbClr val="1581AA"/>
                </a:solidFill>
                <a:latin typeface="Calibri"/>
              </a:rPr>
              <a:t>Creative problem-solving techniques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222B33"/>
                </a:solidFill>
                <a:latin typeface="Calibri"/>
              </a:rPr>
              <a:t>First empirical proof of target leakage in sector drawdown ML; uncensored extended recovery tracking alongside censored metrics; 90-day Sharpe baseline; unified FastAPI + React research dashboard.</a:t>
            </a:r>
          </a:p>
        </p:txBody>
      </p:sp>
      <p:sp>
        <p:nvSpPr>
          <p:cNvPr id="23560" name="Rounded Rectangle 23559"/>
          <p:cNvSpPr/>
          <p:nvPr/>
        </p:nvSpPr>
        <p:spPr>
          <a:xfrm>
            <a:off x="4892040" y="2459736"/>
            <a:ext cx="3840480" cy="1069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50" b="1" i="0">
                <a:solidFill>
                  <a:srgbClr val="1581AA"/>
                </a:solidFill>
                <a:latin typeface="Calibri"/>
              </a:rPr>
              <a:t>Potential impact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222B33"/>
                </a:solidFill>
                <a:latin typeface="Calibri"/>
              </a:rPr>
              <a:t>Compare sector resilience across crises, show where hedging would have helped, and give the parent backtesting node (O3) stress-period risk labels.</a:t>
            </a:r>
          </a:p>
        </p:txBody>
      </p:sp>
      <p:sp>
        <p:nvSpPr>
          <p:cNvPr id="23561" name="Rounded Rectangle 23560"/>
          <p:cNvSpPr/>
          <p:nvPr/>
        </p:nvSpPr>
        <p:spPr>
          <a:xfrm>
            <a:off x="868680" y="3639312"/>
            <a:ext cx="3840480" cy="1069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50" b="1" i="0">
                <a:solidFill>
                  <a:srgbClr val="1581AA"/>
                </a:solidFill>
                <a:latin typeface="Calibri"/>
              </a:rPr>
              <a:t>SDG alignment (proposed mapping)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222B33"/>
                </a:solidFill>
                <a:latin typeface="Calibri"/>
              </a:rPr>
              <a:t>SDG 8, decent work and economic growth: more resilient financial-risk analysis. SDG 9, industry, innovation and infrastructure: open data infrastructure for finance research.</a:t>
            </a:r>
          </a:p>
        </p:txBody>
      </p:sp>
      <p:sp>
        <p:nvSpPr>
          <p:cNvPr id="23562" name="Rounded Rectangle 23561"/>
          <p:cNvSpPr/>
          <p:nvPr/>
        </p:nvSpPr>
        <p:spPr>
          <a:xfrm>
            <a:off x="4892040" y="3639312"/>
            <a:ext cx="3840480" cy="1069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50" b="1" i="0">
                <a:solidFill>
                  <a:srgbClr val="1581AA"/>
                </a:solidFill>
                <a:latin typeface="Calibri"/>
              </a:rPr>
              <a:t>Scalability and future scope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222B33"/>
                </a:solidFill>
                <a:latin typeface="Calibri"/>
              </a:rPr>
              <a:t>Add sectors, markets and events; add CVaR / Expected Shortfall and cap-weighted portfolios; benchmark further classifiers on the same labels.</a:t>
            </a:r>
          </a:p>
        </p:txBody>
      </p:sp>
      <p:sp>
        <p:nvSpPr>
          <p:cNvPr id="23563" name="Rounded Rectangle 23562"/>
          <p:cNvSpPr/>
          <p:nvPr/>
        </p:nvSpPr>
        <p:spPr>
          <a:xfrm>
            <a:off x="868680" y="4818888"/>
            <a:ext cx="3840480" cy="1069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50" b="1" i="0">
                <a:solidFill>
                  <a:srgbClr val="1581AA"/>
                </a:solidFill>
                <a:latin typeface="Calibri"/>
              </a:rPr>
              <a:t>Commercialization / deployment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222B33"/>
                </a:solidFill>
                <a:latin typeface="Calibri"/>
              </a:rPr>
              <a:t>Production deployment on port 8000: documented FastAPI REST API (/api/*) + React/TypeScript quantitative dashboard with live prediction simulator; open-source on GitHub.</a:t>
            </a:r>
          </a:p>
        </p:txBody>
      </p:sp>
      <p:sp>
        <p:nvSpPr>
          <p:cNvPr id="23564" name="Rounded Rectangle 23563"/>
          <p:cNvSpPr/>
          <p:nvPr/>
        </p:nvSpPr>
        <p:spPr>
          <a:xfrm>
            <a:off x="4892040" y="4818888"/>
            <a:ext cx="3840480" cy="1069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50" b="1" i="0">
                <a:solidFill>
                  <a:srgbClr val="1581AA"/>
                </a:solidFill>
                <a:latin typeface="Calibri"/>
              </a:rPr>
              <a:t>Academic &amp; research contribution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222B33"/>
                </a:solidFill>
                <a:latin typeface="Calibri"/>
              </a:rPr>
              <a:t>Dataset paper for venues such as IEEE CiFer, Springer FinanceML, ICACCS and ACM ICAIF; baseline accuracy, precision and recall give later models a number to beat.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1673352" y="457200"/>
            <a:ext cx="7040880" cy="73152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sz="2800" b="1">
                <a:latin typeface="Calibri"/>
              </a:rPr>
              <a:t>Literature Survey</a:t>
            </a:r>
            <a:endParaRPr lang="en-IN" altLang="en-US" b="1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1657350" y="6091238"/>
            <a:ext cx="1066800" cy="365125"/>
          </a:xfrm>
          <a:noFill/>
        </p:spPr>
        <p:txBody>
          <a:bodyPr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EE6738C-772C-4E73-838E-B24548ECEE9B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2898648" y="6108192"/>
            <a:ext cx="4873752" cy="365760"/>
          </a:xfrm>
          <a:noFill/>
        </p:spPr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607" name="Slide Number Placeholder 2"/>
          <p:cNvSpPr txBox="1">
            <a:spLocks noGrp="1"/>
          </p:cNvSpPr>
          <p:nvPr>
            <p:ph type="sldNum" sz="quarter" idx="4"/>
          </p:nvPr>
        </p:nvSpPr>
        <p:spPr>
          <a:xfrm>
            <a:off x="7946136" y="6144768"/>
            <a:ext cx="777240" cy="365760"/>
          </a:xfrm>
          <a:noFill/>
          <a:ln>
            <a:noFill/>
          </a:ln>
        </p:spPr>
        <p:txBody>
          <a:bodyPr anchor="ctr" anchorCtr="0"/>
          <a:lstStyle>
            <a:lvl1pPr marL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lvl="2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lvl="3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lvl="4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en-US" sz="900" dirty="0">
                <a:solidFill>
                  <a:srgbClr val="898989"/>
                </a:solidFill>
              </a:rPr>
            </a:fld>
            <a:r>
              <a:rPr lang="en-US" altLang="en-US" sz="900" dirty="0">
                <a:solidFill>
                  <a:srgbClr val="898989"/>
                </a:solidFill>
              </a:rPr>
              <a:t> of 13</a:t>
            </a:r>
            <a:endParaRPr lang="en-US" altLang="en-US" sz="900" dirty="0">
              <a:solidFill>
                <a:srgbClr val="898989"/>
              </a:solidFill>
            </a:endParaRPr>
          </a:p>
        </p:txBody>
      </p:sp>
      <p:graphicFrame>
        <p:nvGraphicFramePr>
          <p:cNvPr id="24608" name="Table 24607"/>
          <p:cNvGraphicFramePr>
            <a:graphicFrameLocks noGrp="1"/>
          </p:cNvGraphicFramePr>
          <p:nvPr/>
        </p:nvGraphicFramePr>
        <p:xfrm>
          <a:off x="502920" y="1280160"/>
          <a:ext cx="8412480" cy="30175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737360"/>
                <a:gridCol w="1097280"/>
                <a:gridCol w="2057400"/>
                <a:gridCol w="1828800"/>
                <a:gridCol w="1691640"/>
              </a:tblGrid>
              <a:tr h="50292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Author's name / paper title</a:t>
                      </a:r>
                    </a:p>
                  </a:txBody>
                  <a:tcPr marL="54864" marT="36576" marR="54864" marB="36576" anchor="ctr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Conference / journal and year</a:t>
                      </a:r>
                    </a:p>
                  </a:txBody>
                  <a:tcPr marL="54864" marT="36576" marR="54864" marB="36576" anchor="ctr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Technology / design</a:t>
                      </a:r>
                    </a:p>
                  </a:txBody>
                  <a:tcPr marL="54864" marT="36576" marR="54864" marB="36576" anchor="ctr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Results shared by author</a:t>
                      </a:r>
                    </a:p>
                  </a:txBody>
                  <a:tcPr marL="54864" marT="36576" marR="54864" marB="36576" anchor="ctr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What we infer</a:t>
                      </a:r>
                    </a:p>
                  </a:txBody>
                  <a:tcPr marL="54864" marT="36576" marR="54864" marB="36576" anchor="ctr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22B33"/>
                          </a:solidFill>
                          <a:latin typeface="Calibri"/>
                        </a:rPr>
                        <a:t>Dynamic Market Risk and Portfolio Choice: Evidence from Indian Stock Market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IIMB Management Review, 2023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10 Indian sectoral indices, daily 2006–2021; multivariate GARCH time-varying betas; 3-regime Markov switching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Market risk rises under stress; minimum-variance portfolio of resilient sectors tested with time-varying VaR in 2007–08 and COVID-19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Studies sector risk and portfolio choice, not a crisis-specific labeled dataset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22B33"/>
                          </a:solidFill>
                          <a:latin typeface="Calibri"/>
                        </a:rPr>
                        <a:t>Sector-Wise Portfolio Risk Assessment: NIFTY 50 Stocks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ResearchGate listing, 2025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Sector-level VaR, CVaR and Maximum Drawdown on NIFTY 50 stocks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Risk differs across sectors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No standardized sector × stress-event risk-label dataset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22B33"/>
                          </a:solidFill>
                          <a:latin typeface="Calibri"/>
                        </a:rPr>
                        <a:t>Prediction-based Mean-VaR Portfolio Optimization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ScienceDirect listing, 2023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Random Forest, XGBoost and AdaBoost combined with Mean-VaR optimisation; international data incl. India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ML predictions feed VaR-based portfolio selection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Aims at portfolio selection and return prediction, not crisis-period risk labels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22B33"/>
                          </a:solidFill>
                          <a:latin typeface="Calibri"/>
                        </a:rPr>
                        <a:t>Financial Risk Identification using Random Forest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Springer listing, 2025/26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Random Forest for low / medium / high financial-risk classification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Random Forest handles nonlinear financial data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Corporate financial risk, not sector-level market drawdown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22B33"/>
                          </a:solidFill>
                          <a:latin typeface="Calibri"/>
                        </a:rPr>
                        <a:t>Guru &amp; Das: COVID-19 and sectoral volatility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Volatility spillover analysis across 10 major BSE sector indices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COVID-19 significantly increased market volatility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Spillovers only; no portfolio drawdown or risk labels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57200"/>
            <a:ext cx="7040880" cy="731520"/>
          </a:xfrm>
        </p:spPr>
        <p:txBody>
          <a:bodyPr anchor="ctr" wrap="square"/>
          <a:lstStyle/>
          <a:p>
            <a:pPr algn="l"/>
            <a:r>
              <a:rPr sz="2800" b="1">
                <a:latin typeface="Calibri"/>
              </a:rPr>
              <a:t>Research Gap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EBED0AC-B1C5-4D9E-B8BC-A200B7C1B7E1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2898648" y="6108192"/>
            <a:ext cx="4873752" cy="365760"/>
          </a:xfrm>
          <a:noFill/>
        </p:spPr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678" name="Slide Number Placeholder 1"/>
          <p:cNvSpPr txBox="1">
            <a:spLocks noGrp="1"/>
          </p:cNvSpPr>
          <p:nvPr>
            <p:ph type="sldNum" sz="quarter" idx="4"/>
          </p:nvPr>
        </p:nvSpPr>
        <p:spPr>
          <a:xfrm>
            <a:off x="7946136" y="6144768"/>
            <a:ext cx="777240" cy="365760"/>
          </a:xfrm>
          <a:noFill/>
          <a:ln>
            <a:noFill/>
          </a:ln>
        </p:spPr>
        <p:txBody>
          <a:bodyPr anchor="ctr" anchorCtr="0"/>
          <a:lstStyle>
            <a:lvl1pPr marL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lvl="2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lvl="3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lvl="4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en-US" sz="900" dirty="0">
                <a:solidFill>
                  <a:srgbClr val="898989"/>
                </a:solidFill>
              </a:rPr>
            </a:fld>
            <a:r>
              <a:rPr lang="en-US" altLang="en-US" sz="900" dirty="0">
                <a:solidFill>
                  <a:srgbClr val="898989"/>
                </a:solidFill>
              </a:rPr>
              <a:t> of 13</a:t>
            </a:r>
            <a:endParaRPr lang="en-US" altLang="en-US" sz="900" dirty="0">
              <a:solidFill>
                <a:srgbClr val="898989"/>
              </a:solidFill>
            </a:endParaRPr>
          </a:p>
        </p:txBody>
      </p:sp>
      <p:graphicFrame>
        <p:nvGraphicFramePr>
          <p:cNvPr id="28679" name="Table 28678"/>
          <p:cNvGraphicFramePr>
            <a:graphicFrameLocks noGrp="1"/>
          </p:cNvGraphicFramePr>
          <p:nvPr/>
        </p:nvGraphicFramePr>
        <p:xfrm>
          <a:off x="868680" y="1371600"/>
          <a:ext cx="7863840" cy="37033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931920"/>
                <a:gridCol w="3931920"/>
              </a:tblGrid>
              <a:tr h="41148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Research gap</a:t>
                      </a:r>
                    </a:p>
                  </a:txBody>
                  <a:tcPr marL="54864" marT="36576" marR="54864" marB="36576" anchor="ctr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How NiftyStress-44 addresses it</a:t>
                      </a:r>
                    </a:p>
                  </a:txBody>
                  <a:tcPr marL="54864" marT="36576" marR="54864" marB="36576" anchor="ctr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>
                          <a:solidFill>
                            <a:srgbClr val="222B33"/>
                          </a:solidFill>
                          <a:latin typeface="Calibri"/>
                        </a:rPr>
                        <a:t>Existing Indian datasets (BSE / NSE OHLCV on Kaggle, Mendeley) cover normal trading; none isolates crisis windows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>
                          <a:solidFill>
                            <a:srgbClr val="222B33"/>
                          </a:solidFill>
                          <a:latin typeface="Calibri"/>
                        </a:rPr>
                        <a:t>Four validated stress windows (each with at least a 5% Nifty 50 drawdown), stored in one configuration file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>
                          <a:solidFill>
                            <a:srgbClr val="222B33"/>
                          </a:solidFill>
                          <a:latin typeface="Calibri"/>
                        </a:rPr>
                        <a:t>Risk models trained on normal-period data fail in stress events because crisis behaviour is structurally different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>
                          <a:solidFill>
                            <a:srgbClr val="222B33"/>
                          </a:solidFill>
                          <a:latin typeface="Calibri"/>
                        </a:rPr>
                        <a:t>Dataset built only from crisis windows, with a 90-day pre-stress baseline for the Sharpe comparison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>
                          <a:solidFill>
                            <a:srgbClr val="222B33"/>
                          </a:solidFill>
                          <a:latin typeface="Calibri"/>
                        </a:rPr>
                        <a:t>No sector × stress-event risk-label matrix exists for NSE, so researchers rebuild it from scratch each time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>
                          <a:solidFill>
                            <a:srgbClr val="222B33"/>
                          </a:solidFill>
                          <a:latin typeface="Calibri"/>
                        </a:rPr>
                        <a:t>A released 11 × 4 risk-label matrix (44 records) with code, data dictionary and Zenodo DOI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>
                          <a:solidFill>
                            <a:srgbClr val="222B33"/>
                          </a:solidFill>
                          <a:latin typeface="Calibri"/>
                        </a:rPr>
                        <a:t>MDD, VaR and recovery time are rarely combined in one labeled dataset for Indian emerging-market sectors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>
                          <a:solidFill>
                            <a:srgbClr val="222B33"/>
                          </a:solidFill>
                          <a:latin typeface="Calibri"/>
                        </a:rPr>
                        <a:t>Every record carries MDD, VaR (95%), recovery days, Sharpe drop and a High / Medium / Low label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</a:tr>
            </a:tbl>
          </a:graphicData>
        </a:graphic>
      </p:graphicFrame>
      <p:sp>
        <p:nvSpPr>
          <p:cNvPr id="28680" name="TextBox 28679"/>
          <p:cNvSpPr txBox="1"/>
          <p:nvPr/>
        </p:nvSpPr>
        <p:spPr>
          <a:xfrm>
            <a:off x="868680" y="5349240"/>
            <a:ext cx="786384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555F68"/>
                </a:solidFill>
                <a:latin typeface="Calibri"/>
              </a:rPr>
              <a:t>The novelty claim rests on a documented search of Kaggle / Mendeley repositories and the literature reviewed; it is not assumed from a small number of papers.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1673352" y="457200"/>
            <a:ext cx="7040880" cy="73152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sz="2800" b="1">
                <a:latin typeface="Calibri"/>
              </a:rPr>
              <a:t>High-Level Design</a:t>
            </a:r>
            <a:endParaRPr lang="en-IN" alt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1371600" y="6099175"/>
            <a:ext cx="1066800" cy="369888"/>
          </a:xfrm>
          <a:noFill/>
        </p:spPr>
        <p:txBody>
          <a:bodyPr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39FD1F-834A-4638-B533-B13C9FA93A13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2898648" y="6108192"/>
            <a:ext cx="4873752" cy="365760"/>
          </a:xfrm>
          <a:noFill/>
        </p:spPr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605" name="Slide Number Placeholder 1"/>
          <p:cNvSpPr txBox="1">
            <a:spLocks noGrp="1"/>
          </p:cNvSpPr>
          <p:nvPr>
            <p:ph type="sldNum" sz="quarter" idx="4"/>
          </p:nvPr>
        </p:nvSpPr>
        <p:spPr>
          <a:xfrm>
            <a:off x="7946136" y="6144768"/>
            <a:ext cx="777240" cy="365760"/>
          </a:xfrm>
          <a:noFill/>
          <a:ln>
            <a:noFill/>
          </a:ln>
        </p:spPr>
        <p:txBody>
          <a:bodyPr anchor="ctr" anchorCtr="0"/>
          <a:lstStyle>
            <a:lvl1pPr marL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lvl="2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lvl="3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lvl="4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en-US" sz="900" dirty="0">
                <a:solidFill>
                  <a:srgbClr val="898989"/>
                </a:solidFill>
              </a:rPr>
            </a:fld>
            <a:r>
              <a:rPr lang="en-US" altLang="en-US" sz="900" dirty="0">
                <a:solidFill>
                  <a:srgbClr val="898989"/>
                </a:solidFill>
              </a:rPr>
              <a:t> of 13</a:t>
            </a:r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25606" name="Rounded Rectangle 25605"/>
          <p:cNvSpPr/>
          <p:nvPr/>
        </p:nvSpPr>
        <p:spPr>
          <a:xfrm>
            <a:off x="868680" y="1325880"/>
            <a:ext cx="246888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58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250" b="1" i="0">
                <a:solidFill>
                  <a:srgbClr val="265991"/>
                </a:solidFill>
                <a:latin typeface="Calibri"/>
              </a:rPr>
              <a:t>1  Define &amp; validate stress windows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222B33"/>
                </a:solidFill>
                <a:latin typeface="Calibri"/>
              </a:rPr>
              <a:t>4 events with exact start / end dates; at least 5% Nifty 50 peak-to-trough fall; triggers documented; saved as a config file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555F68"/>
                </a:solidFill>
                <a:latin typeface="Calibri"/>
              </a:rPr>
              <a:t>Tools: pandas, yfinance</a:t>
            </a:r>
          </a:p>
        </p:txBody>
      </p:sp>
      <p:sp>
        <p:nvSpPr>
          <p:cNvPr id="25607" name="Rounded Rectangle 25606"/>
          <p:cNvSpPr/>
          <p:nvPr/>
        </p:nvSpPr>
        <p:spPr>
          <a:xfrm>
            <a:off x="3611880" y="1325880"/>
            <a:ext cx="246888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58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250" b="1" i="0">
                <a:solidFill>
                  <a:srgbClr val="265991"/>
                </a:solidFill>
                <a:latin typeface="Calibri"/>
              </a:rPr>
              <a:t>2  Fetch sector OHLCV &amp; returns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222B33"/>
                </a:solidFill>
                <a:latin typeface="Calibri"/>
              </a:rPr>
              <a:t>11 sectors (ETF or equal-weighted tickers), 2019–2024; daily equal-weighted returns; forward-fill up to 2 days, flag more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555F68"/>
                </a:solidFill>
                <a:latin typeface="Calibri"/>
              </a:rPr>
              <a:t>Tools: yfinance, pandas, numpy</a:t>
            </a:r>
          </a:p>
        </p:txBody>
      </p:sp>
      <p:sp>
        <p:nvSpPr>
          <p:cNvPr id="25608" name="Rounded Rectangle 25607"/>
          <p:cNvSpPr/>
          <p:nvPr/>
        </p:nvSpPr>
        <p:spPr>
          <a:xfrm>
            <a:off x="6355080" y="1325880"/>
            <a:ext cx="246888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58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250" b="1" i="0">
                <a:solidFill>
                  <a:srgbClr val="265991"/>
                </a:solidFill>
                <a:latin typeface="Calibri"/>
              </a:rPr>
              <a:t>3  Compute Maximum Drawdown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222B33"/>
                </a:solidFill>
                <a:latin typeface="Calibri"/>
              </a:rPr>
              <a:t>Running peak inside each window; MDD = (Trough − Peak) / Peak × 100; peak and trough dates, days peak to trough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555F68"/>
                </a:solidFill>
                <a:latin typeface="Calibri"/>
              </a:rPr>
              <a:t>Tools: numpy, pandas</a:t>
            </a:r>
          </a:p>
        </p:txBody>
      </p:sp>
      <p:sp>
        <p:nvSpPr>
          <p:cNvPr id="25609" name="Rounded Rectangle 25608"/>
          <p:cNvSpPr/>
          <p:nvPr/>
        </p:nvSpPr>
        <p:spPr>
          <a:xfrm>
            <a:off x="6355080" y="3520440"/>
            <a:ext cx="246888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58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250" b="1" i="0">
                <a:solidFill>
                  <a:srgbClr val="265991"/>
                </a:solidFill>
                <a:latin typeface="Calibri"/>
              </a:rPr>
              <a:t>4  VaR, Sharpe drop, recovery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222B33"/>
                </a:solidFill>
                <a:latin typeface="Calibri"/>
              </a:rPr>
              <a:t>VaR 95% = 5th percentile of daily returns; Sharpe drop vs 90-day baseline; recovery days, NaN if not recovered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555F68"/>
                </a:solidFill>
                <a:latin typeface="Calibri"/>
              </a:rPr>
              <a:t>Tools: numpy, pandas, scipy</a:t>
            </a:r>
          </a:p>
        </p:txBody>
      </p:sp>
      <p:sp>
        <p:nvSpPr>
          <p:cNvPr id="25610" name="Rounded Rectangle 25609"/>
          <p:cNvSpPr/>
          <p:nvPr/>
        </p:nvSpPr>
        <p:spPr>
          <a:xfrm>
            <a:off x="3611880" y="3520440"/>
            <a:ext cx="246888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58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250" b="1" i="0">
                <a:solidFill>
                  <a:srgbClr val="265991"/>
                </a:solidFill>
                <a:latin typeface="Calibri"/>
              </a:rPr>
              <a:t>5  Assign labels &amp; validate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222B33"/>
                </a:solidFill>
                <a:latin typeface="Calibri"/>
              </a:rPr>
              <a:t>High &lt; −15%, Medium −15% to −5%, Low ≥ −5%; 11 × 4 matrix; domain check; 10 manual spot-checks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555F68"/>
                </a:solidFill>
                <a:latin typeface="Calibri"/>
              </a:rPr>
              <a:t>Tools: pandas, Excel</a:t>
            </a:r>
          </a:p>
        </p:txBody>
      </p:sp>
      <p:sp>
        <p:nvSpPr>
          <p:cNvPr id="25611" name="Rounded Rectangle 25610"/>
          <p:cNvSpPr/>
          <p:nvPr/>
        </p:nvSpPr>
        <p:spPr>
          <a:xfrm>
            <a:off x="868680" y="3520440"/>
            <a:ext cx="246888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58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250" b="1" i="0">
                <a:solidFill>
                  <a:srgbClr val="265991"/>
                </a:solidFill>
                <a:latin typeface="Calibri"/>
              </a:rPr>
              <a:t>6  Baseline classifier &amp; release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222B33"/>
                </a:solidFill>
                <a:latin typeface="Calibri"/>
              </a:rPr>
              <a:t>Leak-free Random Forest (3-fold CV &amp; Leave-One-Crisis-Out); FastAPI REST API; 9-page React dashboard; 29 automated tests.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555F68"/>
                </a:solidFill>
                <a:latin typeface="Calibri"/>
              </a:rPr>
              <a:t>Tools: scikit-learn, Zenodo, GitHub</a:t>
            </a:r>
          </a:p>
        </p:txBody>
      </p:sp>
      <p:cxnSp>
        <p:nvCxnSpPr>
          <p:cNvPr id="25612" name="Connector 25611"/>
          <p:cNvCxnSpPr/>
          <p:nvPr/>
        </p:nvCxnSpPr>
        <p:spPr>
          <a:xfrm>
            <a:off x="3337560" y="2217420"/>
            <a:ext cx="274320" cy="0"/>
          </a:xfrm>
          <a:prstGeom prst="line">
            <a:avLst/>
          </a:prstGeom>
          <a:ln w="22225">
            <a:solidFill>
              <a:srgbClr val="1581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13" name="Connector 25612"/>
          <p:cNvCxnSpPr/>
          <p:nvPr/>
        </p:nvCxnSpPr>
        <p:spPr>
          <a:xfrm>
            <a:off x="6080760" y="2217420"/>
            <a:ext cx="274320" cy="0"/>
          </a:xfrm>
          <a:prstGeom prst="line">
            <a:avLst/>
          </a:prstGeom>
          <a:ln w="22225">
            <a:solidFill>
              <a:srgbClr val="1581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14" name="Connector 25613"/>
          <p:cNvCxnSpPr/>
          <p:nvPr/>
        </p:nvCxnSpPr>
        <p:spPr>
          <a:xfrm>
            <a:off x="7589520" y="3108960"/>
            <a:ext cx="0" cy="411480"/>
          </a:xfrm>
          <a:prstGeom prst="line">
            <a:avLst/>
          </a:prstGeom>
          <a:ln w="22225">
            <a:solidFill>
              <a:srgbClr val="1581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15" name="Connector 25614"/>
          <p:cNvCxnSpPr/>
          <p:nvPr/>
        </p:nvCxnSpPr>
        <p:spPr>
          <a:xfrm flipH="1">
            <a:off x="6080760" y="4411980"/>
            <a:ext cx="274320" cy="0"/>
          </a:xfrm>
          <a:prstGeom prst="line">
            <a:avLst/>
          </a:prstGeom>
          <a:ln w="22225">
            <a:solidFill>
              <a:srgbClr val="1581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16" name="Connector 25615"/>
          <p:cNvCxnSpPr/>
          <p:nvPr/>
        </p:nvCxnSpPr>
        <p:spPr>
          <a:xfrm flipH="1">
            <a:off x="3337560" y="4411980"/>
            <a:ext cx="274320" cy="0"/>
          </a:xfrm>
          <a:prstGeom prst="line">
            <a:avLst/>
          </a:prstGeom>
          <a:ln w="22225">
            <a:solidFill>
              <a:srgbClr val="1581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17" name="Rectangle 25616"/>
          <p:cNvSpPr/>
          <p:nvPr/>
        </p:nvSpPr>
        <p:spPr>
          <a:xfrm>
            <a:off x="868680" y="5440680"/>
            <a:ext cx="7955279" cy="548640"/>
          </a:xfrm>
          <a:prstGeom prst="rect">
            <a:avLst/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222B33"/>
                </a:solidFill>
                <a:latin typeface="Calibri"/>
              </a:rPr>
              <a:t>Output: NiftyStress44_final.csv (44×9), NiftyStress44_extended.csv (44×16), risk_label_matrix.xlsx, live dashboard (http://127.0.0.1:8000/)</a:t>
            </a:r>
            <a:r>
              <a:rPr sz="1050" b="0" i="0">
                <a:solidFill>
                  <a:srgbClr val="222B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1673352" y="457200"/>
            <a:ext cx="7040880" cy="73152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sz="2400" b="1">
                <a:latin typeface="Calibri"/>
              </a:rPr>
              <a:t>High-Level Design for the Final System (Proposed)</a:t>
            </a:r>
            <a:endParaRPr lang="en-IN" alt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1371600" y="6099175"/>
            <a:ext cx="1066800" cy="369888"/>
          </a:xfrm>
          <a:noFill/>
        </p:spPr>
        <p:txBody>
          <a:bodyPr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39FD1F-834A-4638-B533-B13C9FA93A13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2898648" y="6108192"/>
            <a:ext cx="4873752" cy="365760"/>
          </a:xfrm>
          <a:noFill/>
        </p:spPr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629" name="Slide Number Placeholder 1"/>
          <p:cNvSpPr txBox="1">
            <a:spLocks noGrp="1"/>
          </p:cNvSpPr>
          <p:nvPr>
            <p:ph type="sldNum" sz="quarter" idx="4"/>
          </p:nvPr>
        </p:nvSpPr>
        <p:spPr>
          <a:xfrm>
            <a:off x="7946136" y="6144768"/>
            <a:ext cx="777240" cy="365760"/>
          </a:xfrm>
          <a:noFill/>
          <a:ln>
            <a:noFill/>
          </a:ln>
        </p:spPr>
        <p:txBody>
          <a:bodyPr anchor="ctr" anchorCtr="0"/>
          <a:lstStyle>
            <a:lvl1pPr marL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lvl="2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lvl="3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lvl="4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en-US" sz="900" dirty="0">
                <a:solidFill>
                  <a:srgbClr val="898989"/>
                </a:solidFill>
              </a:rPr>
            </a:fld>
            <a:r>
              <a:rPr lang="en-US" altLang="en-US" sz="900" dirty="0">
                <a:solidFill>
                  <a:srgbClr val="898989"/>
                </a:solidFill>
              </a:rPr>
              <a:t> of 13</a:t>
            </a:r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26630" name="Rounded Rectangle 26629"/>
          <p:cNvSpPr/>
          <p:nvPr/>
        </p:nvSpPr>
        <p:spPr>
          <a:xfrm>
            <a:off x="868680" y="1280160"/>
            <a:ext cx="1143000" cy="804672"/>
          </a:xfrm>
          <a:prstGeom prst="roundRect">
            <a:avLst>
              <a:gd name="adj" fmla="val 7000"/>
            </a:avLst>
          </a:prstGeom>
          <a:solidFill>
            <a:srgbClr val="265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 sources</a:t>
            </a:r>
          </a:p>
        </p:txBody>
      </p:sp>
      <p:sp>
        <p:nvSpPr>
          <p:cNvPr id="26631" name="Rounded Rectangle 26630"/>
          <p:cNvSpPr/>
          <p:nvPr/>
        </p:nvSpPr>
        <p:spPr>
          <a:xfrm>
            <a:off x="2103120" y="1280160"/>
            <a:ext cx="1591056" cy="8046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581AA"/>
                </a:solidFill>
                <a:latin typeface="Calibri"/>
              </a:rPr>
              <a:t>yfinance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222B33"/>
                </a:solidFill>
                <a:latin typeface="Calibri"/>
              </a:rPr>
              <a:t>daily OHLCV, 11 sector portfolios, 2019–2024</a:t>
            </a:r>
          </a:p>
        </p:txBody>
      </p:sp>
      <p:sp>
        <p:nvSpPr>
          <p:cNvPr id="26632" name="Rounded Rectangle 26631"/>
          <p:cNvSpPr/>
          <p:nvPr/>
        </p:nvSpPr>
        <p:spPr>
          <a:xfrm>
            <a:off x="3803904" y="1280160"/>
            <a:ext cx="1591056" cy="8046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581AA"/>
                </a:solidFill>
                <a:latin typeface="Calibri"/>
              </a:rPr>
              <a:t>Nifty 50 index (^NSEI)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222B33"/>
                </a:solidFill>
                <a:latin typeface="Calibri"/>
              </a:rPr>
              <a:t>window validation, COVID sanity check</a:t>
            </a:r>
          </a:p>
        </p:txBody>
      </p:sp>
      <p:sp>
        <p:nvSpPr>
          <p:cNvPr id="26633" name="Rounded Rectangle 26632"/>
          <p:cNvSpPr/>
          <p:nvPr/>
        </p:nvSpPr>
        <p:spPr>
          <a:xfrm>
            <a:off x="5504688" y="1280160"/>
            <a:ext cx="1591056" cy="8046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581AA"/>
                </a:solidFill>
                <a:latin typeface="Calibri"/>
              </a:rPr>
              <a:t>RBI / NSE releases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222B33"/>
                </a:solidFill>
                <a:latin typeface="Calibri"/>
              </a:rPr>
              <a:t>event triggers and dates</a:t>
            </a:r>
          </a:p>
        </p:txBody>
      </p:sp>
      <p:sp>
        <p:nvSpPr>
          <p:cNvPr id="26634" name="Rounded Rectangle 26633"/>
          <p:cNvSpPr/>
          <p:nvPr/>
        </p:nvSpPr>
        <p:spPr>
          <a:xfrm>
            <a:off x="7205472" y="1280160"/>
            <a:ext cx="1591056" cy="8046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581AA"/>
                </a:solidFill>
                <a:latin typeface="Calibri"/>
              </a:rPr>
              <a:t>Config files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222B33"/>
                </a:solidFill>
                <a:latin typeface="Calibri"/>
              </a:rPr>
              <a:t>stress windows, sector constituents</a:t>
            </a:r>
          </a:p>
        </p:txBody>
      </p:sp>
      <p:cxnSp>
        <p:nvCxnSpPr>
          <p:cNvPr id="26635" name="Connector 26634"/>
          <p:cNvCxnSpPr/>
          <p:nvPr/>
        </p:nvCxnSpPr>
        <p:spPr>
          <a:xfrm>
            <a:off x="1440180" y="2084831"/>
            <a:ext cx="0" cy="155448"/>
          </a:xfrm>
          <a:prstGeom prst="line">
            <a:avLst/>
          </a:prstGeom>
          <a:ln w="19050">
            <a:solidFill>
              <a:srgbClr val="1581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36" name="Rounded Rectangle 26635"/>
          <p:cNvSpPr/>
          <p:nvPr/>
        </p:nvSpPr>
        <p:spPr>
          <a:xfrm>
            <a:off x="868680" y="2240280"/>
            <a:ext cx="1143000" cy="804672"/>
          </a:xfrm>
          <a:prstGeom prst="roundRect">
            <a:avLst>
              <a:gd name="adj" fmla="val 7000"/>
            </a:avLst>
          </a:prstGeom>
          <a:solidFill>
            <a:srgbClr val="265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Processing</a:t>
            </a:r>
          </a:p>
        </p:txBody>
      </p:sp>
      <p:sp>
        <p:nvSpPr>
          <p:cNvPr id="26637" name="Rounded Rectangle 26636"/>
          <p:cNvSpPr/>
          <p:nvPr/>
        </p:nvSpPr>
        <p:spPr>
          <a:xfrm>
            <a:off x="2103120" y="2240280"/>
            <a:ext cx="1591056" cy="8046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581AA"/>
                </a:solidFill>
                <a:latin typeface="Calibri"/>
              </a:rPr>
              <a:t>Returns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222B33"/>
                </a:solidFill>
                <a:latin typeface="Calibri"/>
              </a:rPr>
              <a:t>equal-weighted sector returns, gap handling</a:t>
            </a:r>
          </a:p>
        </p:txBody>
      </p:sp>
      <p:sp>
        <p:nvSpPr>
          <p:cNvPr id="26638" name="Rounded Rectangle 26637"/>
          <p:cNvSpPr/>
          <p:nvPr/>
        </p:nvSpPr>
        <p:spPr>
          <a:xfrm>
            <a:off x="3803904" y="2240280"/>
            <a:ext cx="1591056" cy="8046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581AA"/>
                </a:solidFill>
                <a:latin typeface="Calibri"/>
              </a:rPr>
              <a:t>MDD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222B33"/>
                </a:solidFill>
                <a:latin typeface="Calibri"/>
              </a:rPr>
              <a:t>running peak, trough, peak–trough days</a:t>
            </a:r>
          </a:p>
        </p:txBody>
      </p:sp>
      <p:sp>
        <p:nvSpPr>
          <p:cNvPr id="26639" name="Rounded Rectangle 26638"/>
          <p:cNvSpPr/>
          <p:nvPr/>
        </p:nvSpPr>
        <p:spPr>
          <a:xfrm>
            <a:off x="5504688" y="2240280"/>
            <a:ext cx="1591056" cy="8046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581AA"/>
                </a:solidFill>
                <a:latin typeface="Calibri"/>
              </a:rPr>
              <a:t>VaR 95%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222B33"/>
                </a:solidFill>
                <a:latin typeface="Calibri"/>
              </a:rPr>
              <a:t>5th percentile, historical simulation</a:t>
            </a:r>
          </a:p>
        </p:txBody>
      </p:sp>
      <p:sp>
        <p:nvSpPr>
          <p:cNvPr id="26640" name="Rounded Rectangle 26639"/>
          <p:cNvSpPr/>
          <p:nvPr/>
        </p:nvSpPr>
        <p:spPr>
          <a:xfrm>
            <a:off x="7205472" y="2240280"/>
            <a:ext cx="1591056" cy="8046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581AA"/>
                </a:solidFill>
                <a:latin typeface="Calibri"/>
              </a:rPr>
              <a:t>Sharpe drop, recovery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222B33"/>
                </a:solidFill>
                <a:latin typeface="Calibri"/>
              </a:rPr>
              <a:t>90-day baseline; NaN if unrecovered</a:t>
            </a:r>
          </a:p>
        </p:txBody>
      </p:sp>
      <p:cxnSp>
        <p:nvCxnSpPr>
          <p:cNvPr id="26641" name="Connector 26640"/>
          <p:cNvCxnSpPr/>
          <p:nvPr/>
        </p:nvCxnSpPr>
        <p:spPr>
          <a:xfrm>
            <a:off x="1440180" y="3044952"/>
            <a:ext cx="0" cy="155448"/>
          </a:xfrm>
          <a:prstGeom prst="line">
            <a:avLst/>
          </a:prstGeom>
          <a:ln w="19050">
            <a:solidFill>
              <a:srgbClr val="1581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42" name="Rounded Rectangle 26641"/>
          <p:cNvSpPr/>
          <p:nvPr/>
        </p:nvSpPr>
        <p:spPr>
          <a:xfrm>
            <a:off x="868680" y="3200400"/>
            <a:ext cx="1143000" cy="804672"/>
          </a:xfrm>
          <a:prstGeom prst="roundRect">
            <a:avLst>
              <a:gd name="adj" fmla="val 7000"/>
            </a:avLst>
          </a:prstGeom>
          <a:solidFill>
            <a:srgbClr val="265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Labeling &amp; validation</a:t>
            </a:r>
          </a:p>
        </p:txBody>
      </p:sp>
      <p:sp>
        <p:nvSpPr>
          <p:cNvPr id="26643" name="Rounded Rectangle 26642"/>
          <p:cNvSpPr/>
          <p:nvPr/>
        </p:nvSpPr>
        <p:spPr>
          <a:xfrm>
            <a:off x="2103120" y="3200400"/>
            <a:ext cx="1591056" cy="8046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581AA"/>
                </a:solidFill>
                <a:latin typeface="Calibri"/>
              </a:rPr>
              <a:t>Risk labels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222B33"/>
                </a:solidFill>
                <a:latin typeface="Calibri"/>
              </a:rPr>
              <a:t>High / Medium / Low from MDD</a:t>
            </a:r>
          </a:p>
        </p:txBody>
      </p:sp>
      <p:sp>
        <p:nvSpPr>
          <p:cNvPr id="26644" name="Rounded Rectangle 26643"/>
          <p:cNvSpPr/>
          <p:nvPr/>
        </p:nvSpPr>
        <p:spPr>
          <a:xfrm>
            <a:off x="3803904" y="3200400"/>
            <a:ext cx="1591056" cy="8046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581AA"/>
                </a:solidFill>
                <a:latin typeface="Calibri"/>
              </a:rPr>
              <a:t>Window check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222B33"/>
                </a:solidFill>
                <a:latin typeface="Calibri"/>
              </a:rPr>
              <a:t>at least 5% Nifty 50 drawdown</a:t>
            </a:r>
          </a:p>
        </p:txBody>
      </p:sp>
      <p:sp>
        <p:nvSpPr>
          <p:cNvPr id="26645" name="Rounded Rectangle 26644"/>
          <p:cNvSpPr/>
          <p:nvPr/>
        </p:nvSpPr>
        <p:spPr>
          <a:xfrm>
            <a:off x="5504688" y="3200400"/>
            <a:ext cx="1591056" cy="8046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581AA"/>
                </a:solidFill>
                <a:latin typeface="Calibri"/>
              </a:rPr>
              <a:t>Quality checks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222B33"/>
                </a:solidFill>
                <a:latin typeface="Calibri"/>
              </a:rPr>
              <a:t>completeness ≥ 98%, 44 records</a:t>
            </a:r>
          </a:p>
        </p:txBody>
      </p:sp>
      <p:sp>
        <p:nvSpPr>
          <p:cNvPr id="26646" name="Rounded Rectangle 26645"/>
          <p:cNvSpPr/>
          <p:nvPr/>
        </p:nvSpPr>
        <p:spPr>
          <a:xfrm>
            <a:off x="7205472" y="3200400"/>
            <a:ext cx="1591056" cy="8046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581AA"/>
                </a:solidFill>
                <a:latin typeface="Calibri"/>
              </a:rPr>
              <a:t>Domain checks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222B33"/>
                </a:solidFill>
                <a:latin typeface="Calibri"/>
              </a:rPr>
              <a:t>10 spot-checks vs NSE data</a:t>
            </a:r>
          </a:p>
        </p:txBody>
      </p:sp>
      <p:cxnSp>
        <p:nvCxnSpPr>
          <p:cNvPr id="26647" name="Connector 26646"/>
          <p:cNvCxnSpPr/>
          <p:nvPr/>
        </p:nvCxnSpPr>
        <p:spPr>
          <a:xfrm>
            <a:off x="1440180" y="4005072"/>
            <a:ext cx="0" cy="155448"/>
          </a:xfrm>
          <a:prstGeom prst="line">
            <a:avLst/>
          </a:prstGeom>
          <a:ln w="19050">
            <a:solidFill>
              <a:srgbClr val="1581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48" name="Rounded Rectangle 26647"/>
          <p:cNvSpPr/>
          <p:nvPr/>
        </p:nvSpPr>
        <p:spPr>
          <a:xfrm>
            <a:off x="868680" y="4160520"/>
            <a:ext cx="1143000" cy="804672"/>
          </a:xfrm>
          <a:prstGeom prst="roundRect">
            <a:avLst>
              <a:gd name="adj" fmla="val 7000"/>
            </a:avLst>
          </a:prstGeom>
          <a:solidFill>
            <a:srgbClr val="265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Dataset &amp; release</a:t>
            </a:r>
          </a:p>
        </p:txBody>
      </p:sp>
      <p:sp>
        <p:nvSpPr>
          <p:cNvPr id="26649" name="Rounded Rectangle 26648"/>
          <p:cNvSpPr/>
          <p:nvPr/>
        </p:nvSpPr>
        <p:spPr>
          <a:xfrm>
            <a:off x="2103120" y="4160520"/>
            <a:ext cx="1591056" cy="8046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581AA"/>
                </a:solidFill>
                <a:latin typeface="Calibri"/>
              </a:rPr>
              <a:t>Final dataset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222B33"/>
                </a:solidFill>
                <a:latin typeface="Calibri"/>
              </a:rPr>
              <a:t>NiftyStress44_final.csv</a:t>
            </a:r>
          </a:p>
        </p:txBody>
      </p:sp>
      <p:sp>
        <p:nvSpPr>
          <p:cNvPr id="26650" name="Rounded Rectangle 26649"/>
          <p:cNvSpPr/>
          <p:nvPr/>
        </p:nvSpPr>
        <p:spPr>
          <a:xfrm>
            <a:off x="3803904" y="4160520"/>
            <a:ext cx="1591056" cy="8046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581AA"/>
                </a:solidFill>
                <a:latin typeface="Calibri"/>
              </a:rPr>
              <a:t>Matrix &amp; dictionary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222B33"/>
                </a:solidFill>
                <a:latin typeface="Calibri"/>
              </a:rPr>
              <a:t>11 × 4 xlsx, data_dictionary.xlsx</a:t>
            </a:r>
          </a:p>
        </p:txBody>
      </p:sp>
      <p:sp>
        <p:nvSpPr>
          <p:cNvPr id="26651" name="Rounded Rectangle 26650"/>
          <p:cNvSpPr/>
          <p:nvPr/>
        </p:nvSpPr>
        <p:spPr>
          <a:xfrm>
            <a:off x="5504688" y="4160520"/>
            <a:ext cx="1591056" cy="8046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581AA"/>
                </a:solidFill>
                <a:latin typeface="Calibri"/>
              </a:rPr>
              <a:t>GitHub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222B33"/>
                </a:solidFill>
                <a:latin typeface="Calibri"/>
              </a:rPr>
              <a:t>open-source code, requirements.txt</a:t>
            </a:r>
          </a:p>
        </p:txBody>
      </p:sp>
      <p:sp>
        <p:nvSpPr>
          <p:cNvPr id="26652" name="Rounded Rectangle 26651"/>
          <p:cNvSpPr/>
          <p:nvPr/>
        </p:nvSpPr>
        <p:spPr>
          <a:xfrm>
            <a:off x="7205472" y="4160520"/>
            <a:ext cx="1591056" cy="8046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581AA"/>
                </a:solidFill>
                <a:latin typeface="Calibri"/>
              </a:rPr>
              <a:t>Zenodo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222B33"/>
                </a:solidFill>
                <a:latin typeface="Calibri"/>
              </a:rPr>
              <a:t>dataset with DOI</a:t>
            </a:r>
          </a:p>
        </p:txBody>
      </p:sp>
      <p:cxnSp>
        <p:nvCxnSpPr>
          <p:cNvPr id="26653" name="Connector 26652"/>
          <p:cNvCxnSpPr/>
          <p:nvPr/>
        </p:nvCxnSpPr>
        <p:spPr>
          <a:xfrm>
            <a:off x="1440180" y="4965192"/>
            <a:ext cx="0" cy="155448"/>
          </a:xfrm>
          <a:prstGeom prst="line">
            <a:avLst/>
          </a:prstGeom>
          <a:ln w="19050">
            <a:solidFill>
              <a:srgbClr val="1581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54" name="Rounded Rectangle 26653"/>
          <p:cNvSpPr/>
          <p:nvPr/>
        </p:nvSpPr>
        <p:spPr>
          <a:xfrm>
            <a:off x="868680" y="5120640"/>
            <a:ext cx="1143000" cy="804672"/>
          </a:xfrm>
          <a:prstGeom prst="roundRect">
            <a:avLst>
              <a:gd name="adj" fmla="val 7000"/>
            </a:avLst>
          </a:prstGeom>
          <a:solidFill>
            <a:srgbClr val="265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Consumers</a:t>
            </a:r>
          </a:p>
        </p:txBody>
      </p:sp>
      <p:sp>
        <p:nvSpPr>
          <p:cNvPr id="26655" name="Rounded Rectangle 26654"/>
          <p:cNvSpPr/>
          <p:nvPr/>
        </p:nvSpPr>
        <p:spPr>
          <a:xfrm>
            <a:off x="2103120" y="5120640"/>
            <a:ext cx="1591056" cy="8046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581AA"/>
                </a:solidFill>
                <a:latin typeface="Calibri"/>
              </a:rPr>
              <a:t>Baseline classifier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222B33"/>
                </a:solidFill>
                <a:latin typeface="Calibri"/>
              </a:rPr>
              <a:t>Random Forest baseline (61.4% standard, 70.5% extended; 45.5% out-of-regime)</a:t>
            </a:r>
          </a:p>
        </p:txBody>
      </p:sp>
      <p:sp>
        <p:nvSpPr>
          <p:cNvPr id="26656" name="Rounded Rectangle 26655"/>
          <p:cNvSpPr/>
          <p:nvPr/>
        </p:nvSpPr>
        <p:spPr>
          <a:xfrm>
            <a:off x="3803904" y="5120640"/>
            <a:ext cx="1591056" cy="8046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581AA"/>
                </a:solidFill>
                <a:latin typeface="Calibri"/>
              </a:rPr>
              <a:t>Interactive Web UI &amp; API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222B33"/>
                </a:solidFill>
                <a:latin typeface="Calibri"/>
              </a:rPr>
              <a:t>9-page React research dashboard + FastAPI REST API on port 8000</a:t>
            </a:r>
          </a:p>
        </p:txBody>
      </p:sp>
      <p:sp>
        <p:nvSpPr>
          <p:cNvPr id="26657" name="Rounded Rectangle 26656"/>
          <p:cNvSpPr/>
          <p:nvPr/>
        </p:nvSpPr>
        <p:spPr>
          <a:xfrm>
            <a:off x="5504688" y="5120640"/>
            <a:ext cx="1591056" cy="8046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581AA"/>
                </a:solidFill>
                <a:latin typeface="Calibri"/>
              </a:rPr>
              <a:t>Research paper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222B33"/>
                </a:solidFill>
                <a:latin typeface="Calibri"/>
              </a:rPr>
              <a:t>risk matrix, provenance, data quality, reproducibility</a:t>
            </a:r>
          </a:p>
        </p:txBody>
      </p:sp>
      <p:sp>
        <p:nvSpPr>
          <p:cNvPr id="26658" name="Rounded Rectangle 26657"/>
          <p:cNvSpPr/>
          <p:nvPr/>
        </p:nvSpPr>
        <p:spPr>
          <a:xfrm>
            <a:off x="7205472" y="5120640"/>
            <a:ext cx="1591056" cy="8046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7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581AA"/>
                </a:solidFill>
                <a:latin typeface="Calibri"/>
              </a:rPr>
              <a:t>Future models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222B33"/>
                </a:solidFill>
                <a:latin typeface="Calibri"/>
              </a:rPr>
              <a:t>benchmark numbers to beat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57200"/>
            <a:ext cx="7040880" cy="731520"/>
          </a:xfrm>
        </p:spPr>
        <p:txBody>
          <a:bodyPr anchor="ctr" wrap="square"/>
          <a:lstStyle/>
          <a:p>
            <a:pPr algn="l"/>
            <a:r>
              <a:rPr sz="2600" b="1">
                <a:latin typeface="Calibri"/>
              </a:rPr>
              <a:t>Implementation Snapshot: Risk-Label Matrix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EBED0AC-B1C5-4D9E-B8BC-A200B7C1B7E1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2898648" y="6108192"/>
            <a:ext cx="4873752" cy="365760"/>
          </a:xfrm>
          <a:noFill/>
        </p:spPr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678" name="Slide Number Placeholder 1"/>
          <p:cNvSpPr txBox="1">
            <a:spLocks noGrp="1"/>
          </p:cNvSpPr>
          <p:nvPr>
            <p:ph type="sldNum" sz="quarter" idx="4"/>
          </p:nvPr>
        </p:nvSpPr>
        <p:spPr>
          <a:xfrm>
            <a:off x="7946136" y="6144768"/>
            <a:ext cx="777240" cy="365760"/>
          </a:xfrm>
          <a:noFill/>
          <a:ln>
            <a:noFill/>
          </a:ln>
        </p:spPr>
        <p:txBody>
          <a:bodyPr anchor="ctr" anchorCtr="0"/>
          <a:lstStyle>
            <a:lvl1pPr marL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lvl="2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lvl="3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lvl="4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en-US" sz="900" dirty="0">
                <a:solidFill>
                  <a:srgbClr val="898989"/>
                </a:solidFill>
              </a:rPr>
            </a:fld>
            <a:r>
              <a:rPr lang="en-US" altLang="en-US" sz="900" dirty="0">
                <a:solidFill>
                  <a:srgbClr val="898989"/>
                </a:solidFill>
              </a:rPr>
              <a:t> of 13</a:t>
            </a:r>
            <a:endParaRPr lang="en-US" altLang="en-US" sz="900" dirty="0">
              <a:solidFill>
                <a:srgbClr val="898989"/>
              </a:solidFill>
            </a:endParaRPr>
          </a:p>
        </p:txBody>
      </p:sp>
      <p:graphicFrame>
        <p:nvGraphicFramePr>
          <p:cNvPr id="28679" name="Table 28678"/>
          <p:cNvGraphicFramePr>
            <a:graphicFrameLocks noGrp="1"/>
          </p:cNvGraphicFramePr>
          <p:nvPr/>
        </p:nvGraphicFramePr>
        <p:xfrm>
          <a:off x="868680" y="1280160"/>
          <a:ext cx="7863840" cy="373075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554480"/>
                <a:gridCol w="1577340"/>
                <a:gridCol w="1577340"/>
                <a:gridCol w="1577340"/>
                <a:gridCol w="1577340"/>
              </a:tblGrid>
              <a:tr h="310896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Sector</a:t>
                      </a:r>
                    </a:p>
                  </a:txBody>
                  <a:tcPr marL="54864" marT="36576" marR="54864" marB="36576" anchor="ctr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COVID-19 Crash (Feb–Apr 2020)</a:t>
                      </a:r>
                    </a:p>
                  </a:txBody>
                  <a:tcPr marL="54864" marT="36576" marR="54864" marB="36576" anchor="ctr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Russia-Ukraine Shock (Feb–Apr 2022)</a:t>
                      </a:r>
                    </a:p>
                  </a:txBody>
                  <a:tcPr marL="54864" marT="36576" marR="54864" marB="36576" anchor="ctr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RBI Rate Hike Cycle (May 2022–Feb 2023)</a:t>
                      </a:r>
                    </a:p>
                  </a:txBody>
                  <a:tcPr marL="54864" marT="36576" marR="54864" marB="36576" anchor="ctr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US Fed Tightening (Mar 2022–Dec 2023)</a:t>
                      </a:r>
                    </a:p>
                  </a:txBody>
                  <a:tcPr marL="54864" marT="36576" marR="54864" marB="36576" anchor="ctr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22B33"/>
                          </a:solidFill>
                          <a:latin typeface="Calibri"/>
                        </a:rPr>
                        <a:t>Banking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−44.8%  ·  High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6CF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−12.9%  ·  Medium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BE5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−9.3%  ·  Medium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BE5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−14.2%  ·  Medium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BE5B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22B33"/>
                          </a:solidFill>
                          <a:latin typeface="Calibri"/>
                        </a:rPr>
                        <a:t>PSU Bank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−42.4%  ·  High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6CF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−14.2%  ·  Medium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BE5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−16.7%  ·  High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6CF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−21.9%  ·  High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6CFC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22B33"/>
                          </a:solidFill>
                          <a:latin typeface="Calibri"/>
                        </a:rPr>
                        <a:t>Financial Services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−47.5%  ·  High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6CF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−12.3%  ·  Medium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BE5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−17.8%  ·  High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6CF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−20.3%  ·  High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6CFC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22B33"/>
                          </a:solidFill>
                          <a:latin typeface="Calibri"/>
                        </a:rPr>
                        <a:t>Auto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−37.1%  ·  High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6CF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−17.6%  ·  High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6CF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−9.2%  ·  Medium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BE5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−12.1%  ·  Medium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BE5B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22B33"/>
                          </a:solidFill>
                          <a:latin typeface="Calibri"/>
                        </a:rPr>
                        <a:t>Metal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−50.5%  ·  High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6CF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−10.2%  ·  Medium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BE5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−30.9%  ·  High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6CF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−38.6%  ·  High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6CFC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22B33"/>
                          </a:solidFill>
                          <a:latin typeface="Calibri"/>
                        </a:rPr>
                        <a:t>Energy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−30.0%  ·  High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6CF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−6.8%  ·  Medium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BE5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−14.4%  ·  Medium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BE5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−16.8%  ·  High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6CFC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22B33"/>
                          </a:solidFill>
                          <a:latin typeface="Calibri"/>
                        </a:rPr>
                        <a:t>Realty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−41.3%  ·  High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6CF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−11.2%  ·  Medium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BE5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−15.7%  ·  High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6CF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−21.8%  ·  High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6CFC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22B33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−45.4%  ·  High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6CF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−13.0%  ·  Medium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BE5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−16.0%  ·  High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6CF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−28.2%  ·  High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6CFC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22B33"/>
                          </a:solidFill>
                          <a:latin typeface="Calibri"/>
                        </a:rPr>
                        <a:t>IT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−32.3%  ·  High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6CF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−13.3%  ·  Medium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BE5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−17.0%  ·  High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6CF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−28.2%  ·  High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6CFC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22B33"/>
                          </a:solidFill>
                          <a:latin typeface="Calibri"/>
                        </a:rPr>
                        <a:t>Pharma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−16.1%  ·  High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6CF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−7.2%  ·  Medium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BE5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−10.1%  ·  Medium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BE5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−15.4%  ·  High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6CFC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22B33"/>
                          </a:solidFill>
                          <a:latin typeface="Calibri"/>
                        </a:rPr>
                        <a:t>FMCG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−23.7%  ·  High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6CF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−7.6%  ·  Medium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BE5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−6.7%  ·  Medium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BE5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222B33"/>
                          </a:solidFill>
                          <a:latin typeface="Calibri"/>
                        </a:rPr>
                        <a:t>−8.7%  ·  Medium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BE5B2"/>
                    </a:solidFill>
                  </a:tcPr>
                </a:tc>
              </a:tr>
            </a:tbl>
          </a:graphicData>
        </a:graphic>
      </p:graphicFrame>
      <p:sp>
        <p:nvSpPr>
          <p:cNvPr id="28680" name="Rectangle 28679"/>
          <p:cNvSpPr/>
          <p:nvPr/>
        </p:nvSpPr>
        <p:spPr>
          <a:xfrm>
            <a:off x="868680" y="5440680"/>
            <a:ext cx="7955279" cy="566928"/>
          </a:xfrm>
          <a:prstGeom prst="rect">
            <a:avLst/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222B33"/>
                </a:solidFill>
                <a:latin typeface="Calibri"/>
              </a:rPr>
              <a:t>Pipeline output (NiftyStress44_final.csv): 44 records (High: 26 · Medium: 18 · Low: 0). Cell = Maximum Drawdown · Risk Label. Key finding: Exactly 0 sectors stayed above −5% across all 4 events (mildest was FMCG at −6.68%), proving systemic market contagion across Indian equities during national crises.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673352" y="457200"/>
            <a:ext cx="7040880" cy="731520"/>
          </a:xfrm>
          <a:ln/>
        </p:spPr>
        <p:txBody>
          <a:bodyPr vert="horz" wrap="square" lIns="91440" tIns="45720" rIns="91440" bIns="45720" anchor="ctr" anchorCtr="0"/>
          <a:p>
            <a:pPr eaLnBrk="1" hangingPunct="1" algn="l"/>
            <a:r>
              <a:rPr sz="2800" b="1">
                <a:latin typeface="Calibri"/>
              </a:rPr>
              <a:t>List of Deliverables</a:t>
            </a:r>
            <a:endParaRPr lang="en-IN" alt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1920875" y="6103938"/>
            <a:ext cx="1071563" cy="369888"/>
          </a:xfrm>
          <a:noFill/>
        </p:spPr>
        <p:txBody>
          <a:bodyPr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582B55-4E66-4BE5-85A4-28B9CA8A1ACB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2898648" y="6108192"/>
            <a:ext cx="4873752" cy="365760"/>
          </a:xfrm>
          <a:noFill/>
        </p:spPr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653" name="Slide Number Placeholder 1"/>
          <p:cNvSpPr txBox="1">
            <a:spLocks noGrp="1"/>
          </p:cNvSpPr>
          <p:nvPr>
            <p:ph type="sldNum" sz="quarter" idx="4"/>
          </p:nvPr>
        </p:nvSpPr>
        <p:spPr>
          <a:xfrm>
            <a:off x="7946136" y="6144768"/>
            <a:ext cx="777240" cy="365760"/>
          </a:xfrm>
          <a:noFill/>
          <a:ln>
            <a:noFill/>
          </a:ln>
        </p:spPr>
        <p:txBody>
          <a:bodyPr anchor="ctr" anchorCtr="0"/>
          <a:lstStyle>
            <a:lvl1pPr marL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lvl="2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lvl="3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lvl="4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en-US" sz="900" dirty="0">
                <a:solidFill>
                  <a:srgbClr val="898989"/>
                </a:solidFill>
              </a:rPr>
            </a:fld>
            <a:r>
              <a:rPr lang="en-US" altLang="en-US" sz="900" dirty="0">
                <a:solidFill>
                  <a:srgbClr val="898989"/>
                </a:solidFill>
              </a:rPr>
              <a:t> of 13</a:t>
            </a:r>
            <a:endParaRPr lang="en-US" altLang="en-US" sz="900" dirty="0">
              <a:solidFill>
                <a:srgbClr val="898989"/>
              </a:solidFill>
            </a:endParaRPr>
          </a:p>
        </p:txBody>
      </p:sp>
      <p:graphicFrame>
        <p:nvGraphicFramePr>
          <p:cNvPr id="27654" name="Table 27653"/>
          <p:cNvGraphicFramePr>
            <a:graphicFrameLocks noGrp="1"/>
          </p:cNvGraphicFramePr>
          <p:nvPr/>
        </p:nvGraphicFramePr>
        <p:xfrm>
          <a:off x="868680" y="1280160"/>
          <a:ext cx="7909560" cy="18288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097280"/>
                <a:gridCol w="2651760"/>
                <a:gridCol w="4160520"/>
              </a:tblGrid>
              <a:tr h="36576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54864" marT="36576" marR="54864" marB="36576" anchor="ctr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Files</a:t>
                      </a:r>
                    </a:p>
                  </a:txBody>
                  <a:tcPr marL="54864" marT="36576" marR="54864" marB="36576" anchor="ctr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What it contains / how it is used</a:t>
                      </a:r>
                    </a:p>
                  </a:txBody>
                  <a:tcPr marL="54864" marT="36576" marR="54864" marB="36576" anchor="ctr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t>Raw data &amp; Configs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sector_returns/ (11 CSVs, 1,477 days), NIFTY 50 benchmark CSV, stress_windows_config.json, sector_constituents.json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Daily returns aligned to NSE calendar; verified stress window parameters and 49 constituent equities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t>Certified Datasets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NiftyStress44_final.csv (44×9), NiftyStress44_extended.csv (44×16), risk_label_matrix.xlsx, data_dictionary.xlsx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Official 9-column schema + 16-column extended research dataset; 11×4 color-coded matrix; 4-sheet formal dictionary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t>Validation &amp; ML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baseline_classifier_results.csv, model_evaluation_metrics.json, baseline_rf_leak_free.joblib, domain_validation_notes.xlsx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Stratified 3-fold CV &amp; Leave-One-Crisis-Out GroupKFold; target leakage sanity check; 100% domain agreement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t>Code &amp; Applications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src/ package, root scripts (mdd_compute.py, etc.), FastAPI server, React dashboard, 29 pytest tests, GitHub repo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End-to-end reproducible pipeline; live web app on port 8000; 29/29 tests passing; zero leaked secrets on GitHub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EAF3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655" name="Table 27654"/>
          <p:cNvGraphicFramePr>
            <a:graphicFrameLocks noGrp="1"/>
          </p:cNvGraphicFramePr>
          <p:nvPr/>
        </p:nvGraphicFramePr>
        <p:xfrm>
          <a:off x="868680" y="4709160"/>
          <a:ext cx="7854420" cy="7315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122060"/>
                <a:gridCol w="1122060"/>
                <a:gridCol w="1122060"/>
                <a:gridCol w="1122060"/>
                <a:gridCol w="1122060"/>
                <a:gridCol w="1122060"/>
                <a:gridCol w="1122060"/>
              </a:tblGrid>
              <a:tr h="365760">
                <a:tc>
                  <a:txBody>
                    <a:bodyPr wrap="square"/>
                    <a:lstStyle/>
                    <a:p>
                      <a:r>
                        <a:t>Wk 1–2</a:t>
                      </a:r>
                    </a:p>
                  </a:txBody>
                  <a:tcPr marL="54864" marT="36576" marR="54864" marB="36576" anchor="ctr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Wk 2–3</a:t>
                      </a:r>
                    </a:p>
                  </a:txBody>
                  <a:tcPr marL="54864" marT="36576" marR="54864" marB="36576" anchor="ctr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Wk 3–4</a:t>
                      </a:r>
                    </a:p>
                  </a:txBody>
                  <a:tcPr marL="54864" marT="36576" marR="54864" marB="36576" anchor="ctr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Wk 4–5</a:t>
                      </a:r>
                    </a:p>
                  </a:txBody>
                  <a:tcPr marL="54864" marT="36576" marR="54864" marB="36576" anchor="ctr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Wk 5–6</a:t>
                      </a:r>
                    </a:p>
                  </a:txBody>
                  <a:tcPr marL="54864" marT="36576" marR="54864" marB="36576" anchor="ctr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Review 1 Status</a:t>
                      </a:r>
                    </a:p>
                  </a:txBody>
                  <a:tcPr marL="54864" marT="36576" marR="54864" marB="36576" anchor="ctr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Phase-II Plan</a:t>
                      </a:r>
                    </a:p>
                  </a:txBody>
                  <a:tcPr marL="54864" marT="36576" marR="54864" marB="36576" anchor="ctr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t>Stress Windows &amp; Data Ingestion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MDD, VaR, Sharpe, Recovery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Risk Labels &amp; Excel Matrix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Leak-Free Random Forest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API, React UI &amp; Test Suite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ALL PHASE-I DELIVERABLES 100% COMPLETE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Conference Paper Submission (IEEE CIFEr/ACM ICAIF)</a:t>
                      </a:r>
                    </a:p>
                  </a:txBody>
                  <a:tcPr marL="54864" marT="36576" marR="54864" marB="36576" anchor="t">
                    <a:lnL w="6350" cap="flat" cmpd="sng" algn="ctr">
                      <a:solidFill>
                        <a:srgbClr val="B7D3DC"/>
                      </a:solidFill>
                      <a:prstDash val="solid"/>
                    </a:lnL>
                    <a:lnR w="6350" cap="flat" cmpd="sng" algn="ctr">
                      <a:solidFill>
                        <a:srgbClr val="B7D3DC"/>
                      </a:solidFill>
                      <a:prstDash val="solid"/>
                    </a:lnR>
                    <a:lnT w="6350" cap="flat" cmpd="sng" algn="ctr">
                      <a:solidFill>
                        <a:srgbClr val="B7D3DC"/>
                      </a:solidFill>
                      <a:prstDash val="solid"/>
                    </a:lnT>
                    <a:lnB w="6350" cap="flat" cmpd="sng" algn="ctr">
                      <a:solidFill>
                        <a:srgbClr val="B7D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656" name="TextBox 27655"/>
          <p:cNvSpPr txBox="1"/>
          <p:nvPr/>
        </p:nvSpPr>
        <p:spPr>
          <a:xfrm>
            <a:off x="868680" y="4407408"/>
            <a:ext cx="36576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50" b="1" i="0">
                <a:solidFill>
                  <a:srgbClr val="1581AA"/>
                </a:solidFill>
                <a:latin typeface="Calibri"/>
              </a:rPr>
              <a:t>Timeline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1673352" y="457200"/>
            <a:ext cx="7040880" cy="731520"/>
          </a:xfrm>
          <a:ln/>
        </p:spPr>
        <p:txBody>
          <a:bodyPr vert="horz" wrap="square" lIns="91440" tIns="45720" rIns="91440" bIns="45720" anchor="ctr" anchorCtr="0"/>
          <a:p>
            <a:pPr eaLnBrk="1" hangingPunct="1" algn="l"/>
            <a:r>
              <a:rPr sz="2800" b="1">
                <a:latin typeface="Calibri"/>
              </a:rPr>
              <a:t>References</a:t>
            </a:r>
            <a:endParaRPr lang="en-IN" altLang="en-US" b="1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EBED0AC-B1C5-4D9E-B8BC-A200B7C1B7E1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2898648" y="6108192"/>
            <a:ext cx="4873752" cy="365760"/>
          </a:xfrm>
          <a:noFill/>
        </p:spPr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678" name="Slide Number Placeholder 1"/>
          <p:cNvSpPr txBox="1">
            <a:spLocks noGrp="1"/>
          </p:cNvSpPr>
          <p:nvPr>
            <p:ph type="sldNum" sz="quarter" idx="4"/>
          </p:nvPr>
        </p:nvSpPr>
        <p:spPr>
          <a:xfrm>
            <a:off x="7946136" y="6144768"/>
            <a:ext cx="777240" cy="365760"/>
          </a:xfrm>
          <a:noFill/>
          <a:ln>
            <a:noFill/>
          </a:ln>
        </p:spPr>
        <p:txBody>
          <a:bodyPr anchor="ctr" anchorCtr="0"/>
          <a:lstStyle>
            <a:lvl1pPr marL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lvl="2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lvl="3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lvl="4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en-US" sz="900" dirty="0">
                <a:solidFill>
                  <a:srgbClr val="898989"/>
                </a:solidFill>
              </a:rPr>
            </a:fld>
            <a:r>
              <a:rPr lang="en-US" altLang="en-US" sz="900" dirty="0">
                <a:solidFill>
                  <a:srgbClr val="898989"/>
                </a:solidFill>
              </a:rPr>
              <a:t> of 13</a:t>
            </a:r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28679" name="TextBox 28678"/>
          <p:cNvSpPr txBox="1"/>
          <p:nvPr/>
        </p:nvSpPr>
        <p:spPr>
          <a:xfrm>
            <a:off x="868680" y="1280160"/>
            <a:ext cx="7955279" cy="46634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222B33"/>
                </a:solidFill>
                <a:latin typeface="Calibri"/>
              </a:rPr>
              <a:t>[1]  W. F. Sharpe, “The Sharpe Ratio,” The Journal of Portfolio Management, vol. 21, no. 1, pp. 49–58, 1994.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222B33"/>
                </a:solidFill>
                <a:latin typeface="Calibri"/>
              </a:rPr>
              <a:t>[2]  P. Jorion, “Market Risk,” Encyclopedia of Quantitative Finance, 2010.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222B33"/>
                </a:solidFill>
                <a:latin typeface="Calibri"/>
              </a:rPr>
              <a:t>[3]  G. J. Alexander and A. M. Baptista, “Portfolio selection with a drawdown constraint,” Journal of Banking &amp; Finance, vol. 30, no. 11, pp. 3171–3189, 2006.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222B33"/>
                </a:solidFill>
                <a:latin typeface="Calibri"/>
              </a:rPr>
              <a:t>[4]  L. R. Goldberg and O. Mahmoud, “Drawdown: From Practice to Theory and Back Again,” arXiv:1404.7493, 2014.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222B33"/>
                </a:solidFill>
                <a:latin typeface="Calibri"/>
              </a:rPr>
              <a:t>[5]  NSE Indices, “NIFTY 50 Index – Index Methodology and Historical Data.”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222B33"/>
                </a:solidFill>
                <a:latin typeface="Calibri"/>
              </a:rPr>
              <a:t>[6]  Reserve Bank of India, Annual Report 2022–23, “Chronology of Major Policy Announcements: April 2022 to March 2023.”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222B33"/>
                </a:solidFill>
                <a:latin typeface="Calibri"/>
              </a:rPr>
              <a:t>[7]  “Dynamic Market Risk and Portfolio Choice: Evidence from Indian Stock Market,” IIMB Management Review, 2023.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222B33"/>
                </a:solidFill>
                <a:latin typeface="Calibri"/>
              </a:rPr>
              <a:t>[8]  “Sector-Wise Portfolio Risk Assessment: NIFTY 50 Stocks,” 2025 (as listed on ResearchGate).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222B33"/>
                </a:solidFill>
                <a:latin typeface="Calibri"/>
              </a:rPr>
              <a:t>[9]  “Prediction-based Mean-VaR Portfolio Optimization,” 2023 (as listed on ScienceDirect).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222B33"/>
                </a:solidFill>
                <a:latin typeface="Calibri"/>
              </a:rPr>
              <a:t>[10]  “Financial Risk Identification using Random Forest,” 2025/26 (as listed on Springer).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222B33"/>
                </a:solidFill>
                <a:latin typeface="Calibri"/>
              </a:rPr>
              <a:t>[11]  Guru and Das, study of COVID-19 and volatility spillovers across 10 BSE sector indices, 2021.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1604</Words>
  <Application>WPS Presentation</Application>
  <PresentationFormat>On-screen Show (4:3)</PresentationFormat>
  <Paragraphs>148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Century Gothic</vt:lpstr>
      <vt:lpstr>Wingdings 3</vt:lpstr>
      <vt:lpstr>Calibri</vt:lpstr>
      <vt:lpstr>Microsoft YaHei</vt:lpstr>
      <vt:lpstr>Arial Unicode MS</vt:lpstr>
      <vt:lpstr>Wisp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.:L4zy w4r3z:.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</dc:title>
  <dc:creator>exam</dc:creator>
  <cp:lastModifiedBy>Lenovo</cp:lastModifiedBy>
  <cp:revision>75</cp:revision>
  <dcterms:created xsi:type="dcterms:W3CDTF">2014-02-04T16:39:29Z</dcterms:created>
  <dcterms:modified xsi:type="dcterms:W3CDTF">2026-10-22T16:24:05Z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03A2DF2DCA054515A30B36592F96C437_13</vt:lpwstr>
  </property>
  <property fmtid="{D5CDD505-2E9C-101B-9397-08002B2CF9AE}" pid="3" name="KSOProductBuildVer">
    <vt:lpwstr>1033-12.1.0.29162</vt:lpwstr>
  </property>
</Properties>
</file>